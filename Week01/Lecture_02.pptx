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60" r:id="rId4"/>
    <p:sldId id="258" r:id="rId5"/>
    <p:sldId id="262" r:id="rId6"/>
    <p:sldId id="259" r:id="rId7"/>
    <p:sldId id="304" r:id="rId8"/>
    <p:sldId id="267" r:id="rId9"/>
    <p:sldId id="268" r:id="rId10"/>
    <p:sldId id="266" r:id="rId11"/>
    <p:sldId id="269" r:id="rId12"/>
    <p:sldId id="270" r:id="rId13"/>
    <p:sldId id="271" r:id="rId14"/>
    <p:sldId id="273" r:id="rId15"/>
    <p:sldId id="275" r:id="rId16"/>
    <p:sldId id="274" r:id="rId17"/>
    <p:sldId id="277" r:id="rId18"/>
    <p:sldId id="280" r:id="rId19"/>
    <p:sldId id="289" r:id="rId20"/>
    <p:sldId id="290" r:id="rId21"/>
    <p:sldId id="291" r:id="rId22"/>
    <p:sldId id="293" r:id="rId23"/>
    <p:sldId id="294" r:id="rId24"/>
    <p:sldId id="295" r:id="rId25"/>
    <p:sldId id="296" r:id="rId26"/>
    <p:sldId id="297" r:id="rId27"/>
    <p:sldId id="299" r:id="rId28"/>
    <p:sldId id="301" r:id="rId29"/>
    <p:sldId id="305"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39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compresses AIMA Ch. 3 (classical search) and Ch. 4 (local search) into one session. It is genuinely dense — if it runs long, the clean seam to split into two sessions is right before the 'From Classical to Local Search' section header partway through. Everything after that point is self-contained.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continuation of the agent-types material from Lecture 2 — goal-based agents were defined by asking 'what will happen if I do action A'; search is what happens when you chain that question many steps deep.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Romania road map — our running example for the rest of today's lecture. Initial state: a starting city (Arad). Goal test: reaching the destination (Bucharest). Path cost: total distance traveled. We'll use this exact map to compare every algorithm we cover.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recap since the format itself was already covered via the vacuum world. Move quickly — the point is just to re-anchor the vocabulary before two new examples.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8-state graph for the vacuum world from Lecture 2 — the same environment, now drawn out fully as a state space graph rather than a percept-action table. L, R, S label the actions (Left, Right, Suck); self-loops are no-op moves at a boundary. Small enough to draw completely by hand — most real state spaces are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maze is the cleanest possible instance of the six-part formulation — every part maps to something visually obvious. Good one to formalize together on the board before moving to a less visual example.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2B88-42EC-024E-2B81-738F59BA3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1659B-C40C-B376-EDFD-C2CA5D0A4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B4CEA-A00E-8428-555A-25C4E1033522}"/>
              </a:ext>
            </a:extLst>
          </p:cNvPr>
          <p:cNvSpPr>
            <a:spLocks noGrp="1"/>
          </p:cNvSpPr>
          <p:nvPr>
            <p:ph type="body" idx="1"/>
          </p:nvPr>
        </p:nvSpPr>
        <p:spPr/>
        <p:txBody>
          <a:bodyPr/>
          <a:lstStyle/>
          <a:p>
            <a:r>
              <a:rPr lang="en-US" dirty="0"/>
              <a:t>This is the Romania road map — our running example for the rest of today's lecture. Initial state: a starting city (Arad). Goal test: reaching the destination (Bucharest). Path cost: total distance traveled. We'll use this exact map to compare every algorithm we cover.</a:t>
            </a:r>
          </a:p>
        </p:txBody>
      </p:sp>
      <p:sp>
        <p:nvSpPr>
          <p:cNvPr id="4" name="Slide Number Placeholder 3">
            <a:extLst>
              <a:ext uri="{FF2B5EF4-FFF2-40B4-BE49-F238E27FC236}">
                <a16:creationId xmlns:a16="http://schemas.microsoft.com/office/drawing/2014/main" id="{5269BABE-3243-3E15-9EA7-FBA60144BE6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70285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algorithm family. Everything in this section only ever asks 'is this a goal?' — nothing here knows anything about direction toward the goal. That's what Part 2 (informed search) adds.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a stack' framing: DFS always follows the most recent choice as deep as possible — a stack naturally expands the most recently added node. Backtracking emerges for free from popping.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in graph search, the search tree is built incrementally — it comes from parent pointers accumulated during search, not from unrolling the whole state space graph up front. Trace the Explored / Frontier / Neighbors regions across the three snapshots.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contrast with DFS: same six lines of logic, one data structure swapped. That's the whole lesson of this pair of slides — make sure it lands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IDS (Iterative Deepening Search) runs depth-limited DFS with an increasing depth limit — it gets BFS's completeness with DFS's memory footprint, at the cost of repeated work. UCS (Uniform-Cost Search) expands the lowest cumulative-cost node first — it's Dijkstra's algorithm applied to search, and it's what you need the moment step costs aren't all equal.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big-picture takeaway: BFS/IDS/UCS are all complete and (conditionally) optimal, but their time and space complexity are both exponential in the worst case — that exponential wall is exactly what motivates adding information via heuristics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Part 1 ignored where the goal was. Everything from here on uses an estimate of distance-to-goal to aim the search rather than explore blindly.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h(n) = straight-line distance from n to Bucharest, one fixed number per city, known in advance. This is the heuristic we'll use for every informed-search example today. Note it's an estimate, not a guarantee — the actual road distance can be longer.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pivot for the whole second half: informed search isn't a new algorithm family, it's the same best-first-search idea from UCS, now with an added term for 'how close does this look to the goal.'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picks Arad → Sibiu → Fagaras → Bucharest, cost 450 — because Fagaras looks close to Bucharest in a straight line. It never considers that the road through Rimnicu Vilcea and Pitesti, while looking less direct, is actually shorter (418). Fewest nodes expanded, worse answer.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finds Arad → Sibiu → Rimnicu Vilcea → Pitesti → Bucharest, cost 418 — the true optimum. It expands more nodes than greedy did, but it never gets fooled the way greedy did, because it never forgets what a path has already cost.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begins here. The N-Queens problem is the running example — you already have a full notebook implementation of everything in this section (hill-climbing, simulated annealing, genetic algorithm) to demo live or assign.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image is worth spending real time on — every local search algorithm for the rest of the lecture is a different strategy for moving around exactly this landscape: shoulders, plateaus, local maxima, the global maximum.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called 'greedy local search' for the same reason greedy best-first search got its name — always take the immediately best-looking option, no lookahead.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notebook, random-restart hill-climbing hits 100% success 'by construction' — flag that this isn't really a fair efficiency comparison against simulated annealing or a genetic algorithm, since restarts have no fixed budget. Good discussion prompt already built into the notebook.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worth stating explicitly: this is hill climbing with one rule relaxed — sometimes accept a worse move, and do so less and less often over time. In the N-Queens notebook, simulated annealing reliably outperforms plain hill-climbing.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for a live show-of-hands prediction before revealing the notebook's actual success-rate numbers for each method on 8-Queens.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kept brief by design — its main job here is as a conceptual bridge from 'one state' (hill climbing/SA) to 'a population' (genetic algorithms).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local beam search with two additions: recombination (crossover mixes information between two states, not just selection among existing ones) and mutation (keeps the population from converging too early). Both examples on the next slide are genuinely fun to show live.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enough example to trace by hand: chromosomes are 8-bit strings representing a 3×3 checkerboard pattern. Walk through one generation live — initial population, crossover at a cut point, mutation flipping a single bit, evaluation against the goal string, and selection for the next generation.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brief — signpost, not new content.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F015-551F-F5C5-E14B-AB1658E93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9FF7E-3108-CDD1-F18C-92AD0042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8BEE6-792F-AAE4-695F-38991C60DE92}"/>
              </a:ext>
            </a:extLst>
          </p:cNvPr>
          <p:cNvSpPr>
            <a:spLocks noGrp="1"/>
          </p:cNvSpPr>
          <p:nvPr>
            <p:ph type="body" idx="1"/>
          </p:nvPr>
        </p:nvSpPr>
        <p:spPr/>
        <p:txBody>
          <a:bodyPr/>
          <a:lstStyle/>
          <a:p>
            <a:r>
              <a:rPr lang="en-US" dirty="0"/>
              <a:t>Keep brief — signpost, not new content.</a:t>
            </a:r>
          </a:p>
        </p:txBody>
      </p:sp>
      <p:sp>
        <p:nvSpPr>
          <p:cNvPr id="4" name="Slide Number Placeholder 3">
            <a:extLst>
              <a:ext uri="{FF2B5EF4-FFF2-40B4-BE49-F238E27FC236}">
                <a16:creationId xmlns:a16="http://schemas.microsoft.com/office/drawing/2014/main" id="{3239ABD1-FB66-07E3-75D2-7D1409A27562}"/>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103658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gif"/></Relationships>
</file>

<file path=ppt/slides/_rels/slide1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anton-selitskiy/SB_TAI/blob/main/Week01/search_algorithms_frozenlake.ipynb"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2.gif"/><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txBody>
          <a:bodyPr/>
          <a:lstStyle/>
          <a:p>
            <a:endParaRPr lang="en-US"/>
          </a:p>
        </p:txBody>
      </p:sp>
      <p:sp>
        <p:nvSpPr>
          <p:cNvPr id="3" name="Shape 1"/>
          <p:cNvSpPr/>
          <p:nvPr/>
        </p:nvSpPr>
        <p:spPr>
          <a:xfrm>
            <a:off x="8961120" y="-2011680"/>
            <a:ext cx="5486400" cy="5486400"/>
          </a:xfrm>
          <a:prstGeom prst="ellipse">
            <a:avLst/>
          </a:prstGeom>
          <a:solidFill>
            <a:srgbClr val="141B47"/>
          </a:solidFill>
          <a:ln/>
        </p:spPr>
        <p:txBody>
          <a:bodyPr/>
          <a:lstStyle/>
          <a:p>
            <a:endParaRPr lang="en-US"/>
          </a:p>
        </p:txBody>
      </p:sp>
      <p:sp>
        <p:nvSpPr>
          <p:cNvPr id="4" name="Shape 2"/>
          <p:cNvSpPr/>
          <p:nvPr/>
        </p:nvSpPr>
        <p:spPr>
          <a:xfrm>
            <a:off x="-2286000" y="4389120"/>
            <a:ext cx="4572000" cy="4572000"/>
          </a:xfrm>
          <a:prstGeom prst="ellipse">
            <a:avLst/>
          </a:prstGeom>
          <a:solidFill>
            <a:srgbClr val="141B47"/>
          </a:solidFill>
          <a:ln/>
        </p:spPr>
        <p:txBody>
          <a:bodyPr/>
          <a:lstStyle/>
          <a:p>
            <a:endParaRPr lang="en-US"/>
          </a:p>
        </p:txBody>
      </p:sp>
      <p:sp>
        <p:nvSpPr>
          <p:cNvPr id="5" name="Text 3"/>
          <p:cNvSpPr/>
          <p:nvPr/>
        </p:nvSpPr>
        <p:spPr>
          <a:xfrm>
            <a:off x="822960" y="1965960"/>
            <a:ext cx="10058400" cy="457200"/>
          </a:xfrm>
          <a:prstGeom prst="rect">
            <a:avLst/>
          </a:prstGeom>
          <a:noFill/>
          <a:ln/>
        </p:spPr>
        <p:txBody>
          <a:bodyPr wrap="square" lIns="0" tIns="0" rIns="0" bIns="0" rtlCol="0" anchor="ctr"/>
          <a:lstStyle/>
          <a:p>
            <a:pPr marL="0" indent="0">
              <a:buNone/>
            </a:pPr>
            <a:r>
              <a:rPr lang="en-US" sz="1600" b="1" kern="0" spc="200" dirty="0">
                <a:solidFill>
                  <a:srgbClr val="C9A25D"/>
                </a:solidFill>
                <a:latin typeface="Calibri" pitchFamily="34" charset="0"/>
                <a:ea typeface="Calibri" pitchFamily="34" charset="-122"/>
                <a:cs typeface="Calibri" pitchFamily="34" charset="-120"/>
              </a:rPr>
              <a:t>THEORY OF ARTIFICIAL INTELLIGENCE</a:t>
            </a:r>
            <a:endParaRPr lang="en-US" sz="1600" dirty="0"/>
          </a:p>
        </p:txBody>
      </p:sp>
      <p:sp>
        <p:nvSpPr>
          <p:cNvPr id="6" name="Text 4"/>
          <p:cNvSpPr/>
          <p:nvPr/>
        </p:nvSpPr>
        <p:spPr>
          <a:xfrm>
            <a:off x="777240" y="2377440"/>
            <a:ext cx="10058400" cy="118872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Lecture 2 — Classical &amp; Local Search</a:t>
            </a:r>
            <a:endParaRPr lang="en-US" sz="4400" dirty="0"/>
          </a:p>
        </p:txBody>
      </p:sp>
      <p:sp>
        <p:nvSpPr>
          <p:cNvPr id="7" name="Text 5"/>
          <p:cNvSpPr/>
          <p:nvPr/>
        </p:nvSpPr>
        <p:spPr>
          <a:xfrm>
            <a:off x="822960" y="3429000"/>
            <a:ext cx="9601200" cy="54864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How a Rational Agent Actually Finds a Sequence of Actions</a:t>
            </a:r>
            <a:endParaRPr lang="en-US" sz="2000" dirty="0"/>
          </a:p>
        </p:txBody>
      </p:sp>
      <p:sp>
        <p:nvSpPr>
          <p:cNvPr id="8" name="Shape 6"/>
          <p:cNvSpPr/>
          <p:nvPr/>
        </p:nvSpPr>
        <p:spPr>
          <a:xfrm>
            <a:off x="822960" y="4160520"/>
            <a:ext cx="2011680" cy="0"/>
          </a:xfrm>
          <a:prstGeom prst="line">
            <a:avLst/>
          </a:prstGeom>
          <a:noFill/>
          <a:ln w="25400">
            <a:solidFill>
              <a:srgbClr val="C9A25D"/>
            </a:solidFill>
            <a:prstDash val="solid"/>
          </a:ln>
        </p:spPr>
        <p:txBody>
          <a:bodyPr/>
          <a:lstStyle/>
          <a:p>
            <a:endParaRPr lang="en-US"/>
          </a:p>
        </p:txBody>
      </p:sp>
      <p:sp>
        <p:nvSpPr>
          <p:cNvPr id="9" name="Text 7"/>
          <p:cNvSpPr/>
          <p:nvPr/>
        </p:nvSpPr>
        <p:spPr>
          <a:xfrm>
            <a:off x="822960" y="6035040"/>
            <a:ext cx="73152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Graduate Seminar  •  Fall Term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RECAP</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Task Environments to Search</a:t>
            </a:r>
            <a:endParaRPr lang="en-US" sz="2800" dirty="0"/>
          </a:p>
        </p:txBody>
      </p:sp>
      <p:sp>
        <p:nvSpPr>
          <p:cNvPr id="5" name="Text 3"/>
          <p:cNvSpPr/>
          <p:nvPr/>
        </p:nvSpPr>
        <p:spPr>
          <a:xfrm>
            <a:off x="640080" y="1371600"/>
            <a:ext cx="10881360" cy="4983480"/>
          </a:xfrm>
          <a:prstGeom prst="rect">
            <a:avLst/>
          </a:prstGeom>
          <a:noFill/>
          <a:ln/>
        </p:spPr>
        <p:txBody>
          <a:bodyPr wrap="square" lIns="0" tIns="0" rIns="0" bIns="0" rtlCol="0" anchor="t"/>
          <a:lstStyle/>
          <a:p>
            <a:pPr>
              <a:spcAft>
                <a:spcPts val="1200"/>
              </a:spcAft>
              <a:buSzPct val="100000"/>
            </a:pPr>
            <a:r>
              <a:rPr lang="en-US" sz="2000" b="1" dirty="0">
                <a:solidFill>
                  <a:srgbClr val="1B1F3B"/>
                </a:solidFill>
                <a:latin typeface="Calibri" pitchFamily="34" charset="0"/>
                <a:ea typeface="Calibri" pitchFamily="34" charset="-122"/>
                <a:cs typeface="Calibri" pitchFamily="34" charset="-120"/>
              </a:rPr>
              <a:t>Problem-solving agent – takes a sequence of actions to the goal</a:t>
            </a:r>
          </a:p>
          <a:p>
            <a:pPr marL="342900" indent="-342900">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episodic </a:t>
            </a:r>
          </a:p>
          <a:p>
            <a:pPr marL="342900" indent="-342900">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fully observable</a:t>
            </a:r>
          </a:p>
          <a:p>
            <a:pPr marL="342900" indent="-342900">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single-agent</a:t>
            </a:r>
          </a:p>
          <a:p>
            <a:pPr marL="342900" indent="-342900">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deterministic </a:t>
            </a:r>
          </a:p>
          <a:p>
            <a:pPr marL="342900" indent="-342900">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static</a:t>
            </a:r>
          </a:p>
          <a:p>
            <a:pPr marL="342900" indent="-342900">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Discrete</a:t>
            </a:r>
          </a:p>
          <a:p>
            <a:pPr>
              <a:spcAft>
                <a:spcPts val="1200"/>
              </a:spcAft>
              <a:buSzPct val="100000"/>
            </a:pPr>
            <a:endParaRPr lang="en-US" sz="1600" dirty="0"/>
          </a:p>
          <a:p>
            <a:pPr>
              <a:spcAft>
                <a:spcPts val="1200"/>
              </a:spcAft>
              <a:buSzPct val="100000"/>
            </a:pPr>
            <a:r>
              <a:rPr lang="en-US" sz="1600" b="1" dirty="0">
                <a:solidFill>
                  <a:srgbClr val="1B1F3B"/>
                </a:solidFill>
                <a:latin typeface="Calibri" pitchFamily="34" charset="0"/>
                <a:ea typeface="Calibri" pitchFamily="34" charset="-122"/>
                <a:cs typeface="Calibri" pitchFamily="34" charset="-120"/>
              </a:rPr>
              <a:t>In this setting, rational decision-making reduces to search: find a sequence of actions from the initial state to a goal state</a:t>
            </a:r>
            <a:endParaRPr lang="en-US" sz="1600" dirty="0">
              <a:solidFill>
                <a:srgbClr val="1B1F3B"/>
              </a:solidFill>
              <a:latin typeface="Calibri" pitchFamily="34" charset="0"/>
              <a:ea typeface="Calibri" pitchFamily="34" charset="-122"/>
              <a:cs typeface="Calibri" pitchFamily="34" charset="-120"/>
            </a:endParaRPr>
          </a:p>
          <a:p>
            <a:pPr marL="342900" indent="-342900">
              <a:spcAft>
                <a:spcPts val="1200"/>
              </a:spcAft>
              <a:buSzPct val="100000"/>
              <a:buChar char="•"/>
            </a:pPr>
            <a:endParaRPr lang="en-US" sz="160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a:t>
            </a:r>
            <a:endParaRPr lang="en-US" sz="1000" dirty="0"/>
          </a:p>
        </p:txBody>
      </p:sp>
      <p:pic>
        <p:nvPicPr>
          <p:cNvPr id="9" name="Picture 8">
            <a:extLst>
              <a:ext uri="{FF2B5EF4-FFF2-40B4-BE49-F238E27FC236}">
                <a16:creationId xmlns:a16="http://schemas.microsoft.com/office/drawing/2014/main" id="{408E190B-2FB6-CE9D-5B7F-77746D0A8D95}"/>
              </a:ext>
            </a:extLst>
          </p:cNvPr>
          <p:cNvPicPr>
            <a:picLocks noChangeAspect="1"/>
          </p:cNvPicPr>
          <p:nvPr/>
        </p:nvPicPr>
        <p:blipFill>
          <a:blip r:embed="rId3"/>
          <a:stretch>
            <a:fillRect/>
          </a:stretch>
        </p:blipFill>
        <p:spPr>
          <a:xfrm>
            <a:off x="8697554" y="1389888"/>
            <a:ext cx="3034198" cy="3026129"/>
          </a:xfrm>
          <a:prstGeom prst="rect">
            <a:avLst/>
          </a:prstGeom>
        </p:spPr>
      </p:pic>
      <p:graphicFrame>
        <p:nvGraphicFramePr>
          <p:cNvPr id="10" name="Table 9">
            <a:extLst>
              <a:ext uri="{FF2B5EF4-FFF2-40B4-BE49-F238E27FC236}">
                <a16:creationId xmlns:a16="http://schemas.microsoft.com/office/drawing/2014/main" id="{1E6C7C41-65D6-8AED-1ACD-11DB1D9CBAF6}"/>
              </a:ext>
            </a:extLst>
          </p:cNvPr>
          <p:cNvGraphicFramePr>
            <a:graphicFrameLocks noGrp="1"/>
          </p:cNvGraphicFramePr>
          <p:nvPr>
            <p:extLst>
              <p:ext uri="{D42A27DB-BD31-4B8C-83A1-F6EECF244321}">
                <p14:modId xmlns:p14="http://schemas.microsoft.com/office/powerpoint/2010/main" val="2947899589"/>
              </p:ext>
            </p:extLst>
          </p:nvPr>
        </p:nvGraphicFramePr>
        <p:xfrm>
          <a:off x="2980217" y="4983480"/>
          <a:ext cx="6055988" cy="1463040"/>
        </p:xfrm>
        <a:graphic>
          <a:graphicData uri="http://schemas.openxmlformats.org/drawingml/2006/table">
            <a:tbl>
              <a:tblPr firstRow="1" bandRow="1">
                <a:tableStyleId>{5C22544A-7EE6-4342-B048-85BDC9FD1C3A}</a:tableStyleId>
              </a:tblPr>
              <a:tblGrid>
                <a:gridCol w="3027994">
                  <a:extLst>
                    <a:ext uri="{9D8B030D-6E8A-4147-A177-3AD203B41FA5}">
                      <a16:colId xmlns:a16="http://schemas.microsoft.com/office/drawing/2014/main" val="3665923754"/>
                    </a:ext>
                  </a:extLst>
                </a:gridCol>
                <a:gridCol w="3027994">
                  <a:extLst>
                    <a:ext uri="{9D8B030D-6E8A-4147-A177-3AD203B41FA5}">
                      <a16:colId xmlns:a16="http://schemas.microsoft.com/office/drawing/2014/main" val="2305163940"/>
                    </a:ext>
                  </a:extLst>
                </a:gridCol>
              </a:tblGrid>
              <a:tr h="339306">
                <a:tc>
                  <a:txBody>
                    <a:bodyPr/>
                    <a:lstStyle/>
                    <a:p>
                      <a:pPr algn="ctr"/>
                      <a:r>
                        <a:rPr lang="en-US" dirty="0"/>
                        <a:t>Uninformed</a:t>
                      </a:r>
                    </a:p>
                  </a:txBody>
                  <a:tcPr/>
                </a:tc>
                <a:tc>
                  <a:txBody>
                    <a:bodyPr/>
                    <a:lstStyle/>
                    <a:p>
                      <a:pPr algn="ctr"/>
                      <a:r>
                        <a:rPr lang="en-US" dirty="0"/>
                        <a:t>Informed</a:t>
                      </a:r>
                    </a:p>
                  </a:txBody>
                  <a:tcPr/>
                </a:tc>
                <a:extLst>
                  <a:ext uri="{0D108BD9-81ED-4DB2-BD59-A6C34878D82A}">
                    <a16:rowId xmlns:a16="http://schemas.microsoft.com/office/drawing/2014/main" val="3551094369"/>
                  </a:ext>
                </a:extLst>
              </a:tr>
              <a:tr h="339306">
                <a:tc>
                  <a:txBody>
                    <a:bodyPr/>
                    <a:lstStyle/>
                    <a:p>
                      <a:r>
                        <a:rPr lang="en-US" dirty="0"/>
                        <a:t>Depth-First Search (DFS)</a:t>
                      </a:r>
                    </a:p>
                  </a:txBody>
                  <a:tcPr/>
                </a:tc>
                <a:tc>
                  <a:txBody>
                    <a:bodyPr/>
                    <a:lstStyle/>
                    <a:p>
                      <a:r>
                        <a:rPr lang="en-US" b="0" dirty="0"/>
                        <a:t>Greedy Best-First Search</a:t>
                      </a:r>
                    </a:p>
                  </a:txBody>
                  <a:tcPr/>
                </a:tc>
                <a:extLst>
                  <a:ext uri="{0D108BD9-81ED-4DB2-BD59-A6C34878D82A}">
                    <a16:rowId xmlns:a16="http://schemas.microsoft.com/office/drawing/2014/main" val="353941757"/>
                  </a:ext>
                </a:extLst>
              </a:tr>
              <a:tr h="339306">
                <a:tc>
                  <a:txBody>
                    <a:bodyPr/>
                    <a:lstStyle/>
                    <a:p>
                      <a:r>
                        <a:rPr lang="en-US" dirty="0"/>
                        <a:t>Breadth-First Search (BFS)</a:t>
                      </a:r>
                    </a:p>
                  </a:txBody>
                  <a:tcPr/>
                </a:tc>
                <a:tc>
                  <a:txBody>
                    <a:bodyPr/>
                    <a:lstStyle/>
                    <a:p>
                      <a:r>
                        <a:rPr lang="en-US" b="0" dirty="0"/>
                        <a:t>A*</a:t>
                      </a:r>
                    </a:p>
                  </a:txBody>
                  <a:tcPr/>
                </a:tc>
                <a:extLst>
                  <a:ext uri="{0D108BD9-81ED-4DB2-BD59-A6C34878D82A}">
                    <a16:rowId xmlns:a16="http://schemas.microsoft.com/office/drawing/2014/main" val="3386868277"/>
                  </a:ext>
                </a:extLst>
              </a:tr>
              <a:tr h="339306">
                <a:tc>
                  <a:txBody>
                    <a:bodyPr/>
                    <a:lstStyle/>
                    <a:p>
                      <a:r>
                        <a:rPr lang="en-US" dirty="0"/>
                        <a:t>Uniform-Cost Search (UCS)</a:t>
                      </a:r>
                    </a:p>
                  </a:txBody>
                  <a:tcPr/>
                </a:tc>
                <a:tc>
                  <a:txBody>
                    <a:bodyPr/>
                    <a:lstStyle/>
                    <a:p>
                      <a:endParaRPr lang="en-US" dirty="0"/>
                    </a:p>
                  </a:txBody>
                  <a:tcPr/>
                </a:tc>
                <a:extLst>
                  <a:ext uri="{0D108BD9-81ED-4DB2-BD59-A6C34878D82A}">
                    <a16:rowId xmlns:a16="http://schemas.microsoft.com/office/drawing/2014/main" val="261989554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PROBLEM FORMULATION</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 Real-World Example: Route Finding</a:t>
            </a:r>
            <a:endParaRPr lang="en-US" sz="2600" dirty="0"/>
          </a:p>
        </p:txBody>
      </p:sp>
      <p:pic>
        <p:nvPicPr>
          <p:cNvPr id="5" name="Image 0" descr="/home/claude/assets2/romania_route.png"/>
          <p:cNvPicPr>
            <a:picLocks noChangeAspect="1"/>
          </p:cNvPicPr>
          <p:nvPr/>
        </p:nvPicPr>
        <p:blipFill>
          <a:blip r:embed="rId3"/>
          <a:srcRect/>
          <a:stretch/>
        </p:blipFill>
        <p:spPr>
          <a:xfrm>
            <a:off x="822960" y="1280160"/>
            <a:ext cx="10515600" cy="5250036"/>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PROBLEM FORMULATION</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Six Parts of a Search Problem</a:t>
            </a:r>
            <a:endParaRPr lang="en-US" sz="2600" dirty="0"/>
          </a:p>
        </p:txBody>
      </p:sp>
      <p:sp>
        <p:nvSpPr>
          <p:cNvPr id="5" name="Shape 3"/>
          <p:cNvSpPr/>
          <p:nvPr/>
        </p:nvSpPr>
        <p:spPr>
          <a:xfrm>
            <a:off x="640080" y="1463040"/>
            <a:ext cx="2377440" cy="658368"/>
          </a:xfrm>
          <a:prstGeom prst="roundRect">
            <a:avLst>
              <a:gd name="adj" fmla="val 12500"/>
            </a:avLst>
          </a:prstGeom>
          <a:solidFill>
            <a:srgbClr val="1E2761"/>
          </a:solidFill>
          <a:ln/>
        </p:spPr>
        <p:txBody>
          <a:bodyPr/>
          <a:lstStyle/>
          <a:p>
            <a:endParaRPr lang="en-US"/>
          </a:p>
        </p:txBody>
      </p:sp>
      <p:sp>
        <p:nvSpPr>
          <p:cNvPr id="6" name="Text 4"/>
          <p:cNvSpPr/>
          <p:nvPr/>
        </p:nvSpPr>
        <p:spPr>
          <a:xfrm>
            <a:off x="640080" y="1463040"/>
            <a:ext cx="2377440" cy="658368"/>
          </a:xfrm>
          <a:prstGeom prst="rect">
            <a:avLst/>
          </a:prstGeom>
          <a:noFill/>
          <a:ln/>
        </p:spPr>
        <p:txBody>
          <a:bodyPr wrap="square" lIns="0" tIns="0" rIns="0" bIns="0" rtlCol="0" anchor="ctr"/>
          <a:lstStyle/>
          <a:p>
            <a:pPr marL="0" indent="0" algn="ctr">
              <a:buNone/>
            </a:pPr>
            <a:r>
              <a:rPr lang="en-US" sz="1300" b="1" dirty="0">
                <a:solidFill>
                  <a:srgbClr val="C9A25D"/>
                </a:solidFill>
                <a:latin typeface="Cambria" pitchFamily="34" charset="0"/>
                <a:ea typeface="Cambria" pitchFamily="34" charset="-122"/>
                <a:cs typeface="Cambria" pitchFamily="34" charset="-120"/>
              </a:rPr>
              <a:t>Initial state s₀</a:t>
            </a:r>
            <a:endParaRPr lang="en-US" sz="1300" dirty="0"/>
          </a:p>
        </p:txBody>
      </p:sp>
      <p:sp>
        <p:nvSpPr>
          <p:cNvPr id="7" name="Shape 5"/>
          <p:cNvSpPr/>
          <p:nvPr/>
        </p:nvSpPr>
        <p:spPr>
          <a:xfrm>
            <a:off x="3200400" y="1463040"/>
            <a:ext cx="8321040" cy="658368"/>
          </a:xfrm>
          <a:prstGeom prst="roundRect">
            <a:avLst>
              <a:gd name="adj" fmla="val 12500"/>
            </a:avLst>
          </a:prstGeom>
          <a:solidFill>
            <a:srgbClr val="F4F6FB"/>
          </a:solidFill>
          <a:ln w="12700">
            <a:solidFill>
              <a:srgbClr val="CADCFC"/>
            </a:solidFill>
            <a:prstDash val="solid"/>
          </a:ln>
        </p:spPr>
        <p:txBody>
          <a:bodyPr/>
          <a:lstStyle/>
          <a:p>
            <a:endParaRPr lang="en-US"/>
          </a:p>
        </p:txBody>
      </p:sp>
      <p:sp>
        <p:nvSpPr>
          <p:cNvPr id="8" name="Text 6"/>
          <p:cNvSpPr/>
          <p:nvPr/>
        </p:nvSpPr>
        <p:spPr>
          <a:xfrm>
            <a:off x="3429000" y="1463040"/>
            <a:ext cx="7863840" cy="658368"/>
          </a:xfrm>
          <a:prstGeom prst="rect">
            <a:avLst/>
          </a:prstGeom>
          <a:noFill/>
          <a:ln/>
        </p:spPr>
        <p:txBody>
          <a:bodyPr wrap="square" lIns="0" tIns="0" rIns="0" bIns="0"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Where the agent starts</a:t>
            </a:r>
            <a:endParaRPr lang="en-US" sz="1250" dirty="0"/>
          </a:p>
        </p:txBody>
      </p:sp>
      <p:sp>
        <p:nvSpPr>
          <p:cNvPr id="9" name="Shape 7"/>
          <p:cNvSpPr/>
          <p:nvPr/>
        </p:nvSpPr>
        <p:spPr>
          <a:xfrm>
            <a:off x="640080" y="2212848"/>
            <a:ext cx="2377440" cy="658368"/>
          </a:xfrm>
          <a:prstGeom prst="roundRect">
            <a:avLst>
              <a:gd name="adj" fmla="val 12500"/>
            </a:avLst>
          </a:prstGeom>
          <a:solidFill>
            <a:srgbClr val="1E2761"/>
          </a:solidFill>
          <a:ln/>
        </p:spPr>
        <p:txBody>
          <a:bodyPr/>
          <a:lstStyle/>
          <a:p>
            <a:endParaRPr lang="en-US"/>
          </a:p>
        </p:txBody>
      </p:sp>
      <p:sp>
        <p:nvSpPr>
          <p:cNvPr id="10" name="Text 8"/>
          <p:cNvSpPr/>
          <p:nvPr/>
        </p:nvSpPr>
        <p:spPr>
          <a:xfrm>
            <a:off x="640080" y="2212848"/>
            <a:ext cx="2377440" cy="658368"/>
          </a:xfrm>
          <a:prstGeom prst="rect">
            <a:avLst/>
          </a:prstGeom>
          <a:noFill/>
          <a:ln/>
        </p:spPr>
        <p:txBody>
          <a:bodyPr wrap="square" lIns="0" tIns="0" rIns="0" bIns="0" rtlCol="0" anchor="ctr"/>
          <a:lstStyle/>
          <a:p>
            <a:pPr marL="0" indent="0" algn="ctr">
              <a:buNone/>
            </a:pPr>
            <a:r>
              <a:rPr lang="en-US" sz="1300" b="1" dirty="0">
                <a:solidFill>
                  <a:srgbClr val="C9A25D"/>
                </a:solidFill>
                <a:latin typeface="Cambria" pitchFamily="34" charset="0"/>
                <a:ea typeface="Cambria" pitchFamily="34" charset="-122"/>
                <a:cs typeface="Cambria" pitchFamily="34" charset="-120"/>
              </a:rPr>
              <a:t>State space S</a:t>
            </a:r>
            <a:endParaRPr lang="en-US" sz="1300" dirty="0"/>
          </a:p>
        </p:txBody>
      </p:sp>
      <p:sp>
        <p:nvSpPr>
          <p:cNvPr id="11" name="Shape 9"/>
          <p:cNvSpPr/>
          <p:nvPr/>
        </p:nvSpPr>
        <p:spPr>
          <a:xfrm>
            <a:off x="3200400" y="2212848"/>
            <a:ext cx="8321040" cy="658368"/>
          </a:xfrm>
          <a:prstGeom prst="roundRect">
            <a:avLst>
              <a:gd name="adj" fmla="val 12500"/>
            </a:avLst>
          </a:prstGeom>
          <a:solidFill>
            <a:srgbClr val="F4F6FB"/>
          </a:solidFill>
          <a:ln w="12700">
            <a:solidFill>
              <a:srgbClr val="CADCFC"/>
            </a:solidFill>
            <a:prstDash val="solid"/>
          </a:ln>
        </p:spPr>
        <p:txBody>
          <a:bodyPr/>
          <a:lstStyle/>
          <a:p>
            <a:endParaRPr lang="en-US"/>
          </a:p>
        </p:txBody>
      </p:sp>
      <p:sp>
        <p:nvSpPr>
          <p:cNvPr id="12" name="Text 10"/>
          <p:cNvSpPr/>
          <p:nvPr/>
        </p:nvSpPr>
        <p:spPr>
          <a:xfrm>
            <a:off x="3429000" y="2212848"/>
            <a:ext cx="7863840" cy="658368"/>
          </a:xfrm>
          <a:prstGeom prst="rect">
            <a:avLst/>
          </a:prstGeom>
          <a:noFill/>
          <a:ln/>
        </p:spPr>
        <p:txBody>
          <a:bodyPr wrap="square" lIns="0" tIns="0" rIns="0" bIns="0"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All states reachable from s₀ by any sequence of actions</a:t>
            </a:r>
            <a:endParaRPr lang="en-US" sz="1250" dirty="0"/>
          </a:p>
        </p:txBody>
      </p:sp>
      <p:sp>
        <p:nvSpPr>
          <p:cNvPr id="13" name="Shape 11"/>
          <p:cNvSpPr/>
          <p:nvPr/>
        </p:nvSpPr>
        <p:spPr>
          <a:xfrm>
            <a:off x="640080" y="2962656"/>
            <a:ext cx="2377440" cy="658368"/>
          </a:xfrm>
          <a:prstGeom prst="roundRect">
            <a:avLst>
              <a:gd name="adj" fmla="val 12500"/>
            </a:avLst>
          </a:prstGeom>
          <a:solidFill>
            <a:srgbClr val="1E2761"/>
          </a:solidFill>
          <a:ln/>
        </p:spPr>
        <p:txBody>
          <a:bodyPr/>
          <a:lstStyle/>
          <a:p>
            <a:endParaRPr lang="en-US"/>
          </a:p>
        </p:txBody>
      </p:sp>
      <p:sp>
        <p:nvSpPr>
          <p:cNvPr id="14" name="Text 12"/>
          <p:cNvSpPr/>
          <p:nvPr/>
        </p:nvSpPr>
        <p:spPr>
          <a:xfrm>
            <a:off x="640080" y="2962656"/>
            <a:ext cx="2377440" cy="658368"/>
          </a:xfrm>
          <a:prstGeom prst="rect">
            <a:avLst/>
          </a:prstGeom>
          <a:noFill/>
          <a:ln/>
        </p:spPr>
        <p:txBody>
          <a:bodyPr wrap="square" lIns="0" tIns="0" rIns="0" bIns="0" rtlCol="0" anchor="ctr"/>
          <a:lstStyle/>
          <a:p>
            <a:pPr marL="0" indent="0" algn="ctr">
              <a:buNone/>
            </a:pPr>
            <a:r>
              <a:rPr lang="en-US" sz="1300" b="1" dirty="0">
                <a:solidFill>
                  <a:srgbClr val="C9A25D"/>
                </a:solidFill>
                <a:latin typeface="Cambria" pitchFamily="34" charset="0"/>
                <a:ea typeface="Cambria" pitchFamily="34" charset="-122"/>
                <a:cs typeface="Cambria" pitchFamily="34" charset="-120"/>
              </a:rPr>
              <a:t>Actions A(s)</a:t>
            </a:r>
            <a:endParaRPr lang="en-US" sz="1300" dirty="0"/>
          </a:p>
        </p:txBody>
      </p:sp>
      <p:sp>
        <p:nvSpPr>
          <p:cNvPr id="15" name="Shape 13"/>
          <p:cNvSpPr/>
          <p:nvPr/>
        </p:nvSpPr>
        <p:spPr>
          <a:xfrm>
            <a:off x="3200400" y="2962656"/>
            <a:ext cx="8321040" cy="658368"/>
          </a:xfrm>
          <a:prstGeom prst="roundRect">
            <a:avLst>
              <a:gd name="adj" fmla="val 12500"/>
            </a:avLst>
          </a:prstGeom>
          <a:solidFill>
            <a:srgbClr val="F4F6FB"/>
          </a:solidFill>
          <a:ln w="12700">
            <a:solidFill>
              <a:srgbClr val="CADCFC"/>
            </a:solidFill>
            <a:prstDash val="solid"/>
          </a:ln>
        </p:spPr>
        <p:txBody>
          <a:bodyPr/>
          <a:lstStyle/>
          <a:p>
            <a:endParaRPr lang="en-US"/>
          </a:p>
        </p:txBody>
      </p:sp>
      <p:sp>
        <p:nvSpPr>
          <p:cNvPr id="16" name="Text 14"/>
          <p:cNvSpPr/>
          <p:nvPr/>
        </p:nvSpPr>
        <p:spPr>
          <a:xfrm>
            <a:off x="3429000" y="2962656"/>
            <a:ext cx="7863840" cy="658368"/>
          </a:xfrm>
          <a:prstGeom prst="rect">
            <a:avLst/>
          </a:prstGeom>
          <a:noFill/>
          <a:ln/>
        </p:spPr>
        <p:txBody>
          <a:bodyPr wrap="square" lIns="0" tIns="0" rIns="0" bIns="0"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Actions available to the agent at state s</a:t>
            </a:r>
            <a:endParaRPr lang="en-US" sz="1250" dirty="0"/>
          </a:p>
        </p:txBody>
      </p:sp>
      <p:sp>
        <p:nvSpPr>
          <p:cNvPr id="17" name="Shape 15"/>
          <p:cNvSpPr/>
          <p:nvPr/>
        </p:nvSpPr>
        <p:spPr>
          <a:xfrm>
            <a:off x="640080" y="3712464"/>
            <a:ext cx="2377440" cy="658368"/>
          </a:xfrm>
          <a:prstGeom prst="roundRect">
            <a:avLst>
              <a:gd name="adj" fmla="val 12500"/>
            </a:avLst>
          </a:prstGeom>
          <a:solidFill>
            <a:srgbClr val="1E2761"/>
          </a:solidFill>
          <a:ln/>
        </p:spPr>
        <p:txBody>
          <a:bodyPr/>
          <a:lstStyle/>
          <a:p>
            <a:endParaRPr lang="en-US"/>
          </a:p>
        </p:txBody>
      </p:sp>
      <p:sp>
        <p:nvSpPr>
          <p:cNvPr id="18" name="Text 16"/>
          <p:cNvSpPr/>
          <p:nvPr/>
        </p:nvSpPr>
        <p:spPr>
          <a:xfrm>
            <a:off x="640080" y="3712464"/>
            <a:ext cx="2377440" cy="658368"/>
          </a:xfrm>
          <a:prstGeom prst="rect">
            <a:avLst/>
          </a:prstGeom>
          <a:noFill/>
          <a:ln/>
        </p:spPr>
        <p:txBody>
          <a:bodyPr wrap="square" lIns="0" tIns="0" rIns="0" bIns="0" rtlCol="0" anchor="ctr"/>
          <a:lstStyle/>
          <a:p>
            <a:pPr marL="0" indent="0" algn="ctr">
              <a:buNone/>
            </a:pPr>
            <a:r>
              <a:rPr lang="en-US" sz="1300" b="1" dirty="0">
                <a:solidFill>
                  <a:srgbClr val="C9A25D"/>
                </a:solidFill>
                <a:latin typeface="Cambria" pitchFamily="34" charset="0"/>
                <a:ea typeface="Cambria" pitchFamily="34" charset="-122"/>
                <a:cs typeface="Cambria" pitchFamily="34" charset="-120"/>
              </a:rPr>
              <a:t>Transition model</a:t>
            </a:r>
            <a:endParaRPr lang="en-US" sz="1300" dirty="0"/>
          </a:p>
        </p:txBody>
      </p:sp>
      <p:sp>
        <p:nvSpPr>
          <p:cNvPr id="19" name="Shape 17"/>
          <p:cNvSpPr/>
          <p:nvPr/>
        </p:nvSpPr>
        <p:spPr>
          <a:xfrm>
            <a:off x="3200400" y="3712464"/>
            <a:ext cx="8321040" cy="658368"/>
          </a:xfrm>
          <a:prstGeom prst="roundRect">
            <a:avLst>
              <a:gd name="adj" fmla="val 12500"/>
            </a:avLst>
          </a:prstGeom>
          <a:solidFill>
            <a:srgbClr val="F4F6FB"/>
          </a:solidFill>
          <a:ln w="12700">
            <a:solidFill>
              <a:srgbClr val="CADCFC"/>
            </a:solidFill>
            <a:prstDash val="solid"/>
          </a:ln>
        </p:spPr>
        <p:txBody>
          <a:bodyPr/>
          <a:lstStyle/>
          <a:p>
            <a:endParaRPr lang="en-US"/>
          </a:p>
        </p:txBody>
      </p:sp>
      <p:sp>
        <p:nvSpPr>
          <p:cNvPr id="20" name="Text 18"/>
          <p:cNvSpPr/>
          <p:nvPr/>
        </p:nvSpPr>
        <p:spPr>
          <a:xfrm>
            <a:off x="3429000" y="3712464"/>
            <a:ext cx="7863840" cy="658368"/>
          </a:xfrm>
          <a:prstGeom prst="rect">
            <a:avLst/>
          </a:prstGeom>
          <a:noFill/>
          <a:ln/>
        </p:spPr>
        <p:txBody>
          <a:bodyPr wrap="square" lIns="0" tIns="0" rIns="0" bIns="0"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Result(s, a) → s′, for every s, s′ ∈ S and a ∈ A(s)</a:t>
            </a:r>
            <a:endParaRPr lang="en-US" sz="1250" dirty="0"/>
          </a:p>
        </p:txBody>
      </p:sp>
      <p:sp>
        <p:nvSpPr>
          <p:cNvPr id="21" name="Shape 19"/>
          <p:cNvSpPr/>
          <p:nvPr/>
        </p:nvSpPr>
        <p:spPr>
          <a:xfrm>
            <a:off x="640080" y="4462272"/>
            <a:ext cx="2377440" cy="658368"/>
          </a:xfrm>
          <a:prstGeom prst="roundRect">
            <a:avLst>
              <a:gd name="adj" fmla="val 12500"/>
            </a:avLst>
          </a:prstGeom>
          <a:solidFill>
            <a:srgbClr val="1E2761"/>
          </a:solidFill>
          <a:ln/>
        </p:spPr>
        <p:txBody>
          <a:bodyPr/>
          <a:lstStyle/>
          <a:p>
            <a:endParaRPr lang="en-US"/>
          </a:p>
        </p:txBody>
      </p:sp>
      <p:sp>
        <p:nvSpPr>
          <p:cNvPr id="22" name="Text 20"/>
          <p:cNvSpPr/>
          <p:nvPr/>
        </p:nvSpPr>
        <p:spPr>
          <a:xfrm>
            <a:off x="640080" y="4462272"/>
            <a:ext cx="2377440" cy="658368"/>
          </a:xfrm>
          <a:prstGeom prst="rect">
            <a:avLst/>
          </a:prstGeom>
          <a:noFill/>
          <a:ln/>
        </p:spPr>
        <p:txBody>
          <a:bodyPr wrap="square" lIns="0" tIns="0" rIns="0" bIns="0" rtlCol="0" anchor="ctr"/>
          <a:lstStyle/>
          <a:p>
            <a:pPr marL="0" indent="0" algn="ctr">
              <a:buNone/>
            </a:pPr>
            <a:r>
              <a:rPr lang="en-US" sz="1300" b="1" dirty="0">
                <a:solidFill>
                  <a:srgbClr val="C9A25D"/>
                </a:solidFill>
                <a:latin typeface="Cambria" pitchFamily="34" charset="0"/>
                <a:ea typeface="Cambria" pitchFamily="34" charset="-122"/>
                <a:cs typeface="Cambria" pitchFamily="34" charset="-120"/>
              </a:rPr>
              <a:t>Goal test G(s)</a:t>
            </a:r>
            <a:endParaRPr lang="en-US" sz="1300" dirty="0"/>
          </a:p>
        </p:txBody>
      </p:sp>
      <p:sp>
        <p:nvSpPr>
          <p:cNvPr id="23" name="Shape 21"/>
          <p:cNvSpPr/>
          <p:nvPr/>
        </p:nvSpPr>
        <p:spPr>
          <a:xfrm>
            <a:off x="3200400" y="4462272"/>
            <a:ext cx="8321040" cy="658368"/>
          </a:xfrm>
          <a:prstGeom prst="roundRect">
            <a:avLst>
              <a:gd name="adj" fmla="val 12500"/>
            </a:avLst>
          </a:prstGeom>
          <a:solidFill>
            <a:srgbClr val="F4F6FB"/>
          </a:solidFill>
          <a:ln w="12700">
            <a:solidFill>
              <a:srgbClr val="CADCFC"/>
            </a:solidFill>
            <a:prstDash val="solid"/>
          </a:ln>
        </p:spPr>
        <p:txBody>
          <a:bodyPr/>
          <a:lstStyle/>
          <a:p>
            <a:endParaRPr lang="en-US"/>
          </a:p>
        </p:txBody>
      </p:sp>
      <p:sp>
        <p:nvSpPr>
          <p:cNvPr id="24" name="Text 22"/>
          <p:cNvSpPr/>
          <p:nvPr/>
        </p:nvSpPr>
        <p:spPr>
          <a:xfrm>
            <a:off x="3429000" y="4462272"/>
            <a:ext cx="7863840" cy="658368"/>
          </a:xfrm>
          <a:prstGeom prst="rect">
            <a:avLst/>
          </a:prstGeom>
          <a:noFill/>
          <a:ln/>
        </p:spPr>
        <p:txBody>
          <a:bodyPr wrap="square" lIns="0" tIns="0" rIns="0" bIns="0"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Does state s satisfy the goal? → {true, false}</a:t>
            </a:r>
            <a:endParaRPr lang="en-US" sz="1250" dirty="0"/>
          </a:p>
        </p:txBody>
      </p:sp>
      <p:sp>
        <p:nvSpPr>
          <p:cNvPr id="25" name="Shape 23"/>
          <p:cNvSpPr/>
          <p:nvPr/>
        </p:nvSpPr>
        <p:spPr>
          <a:xfrm>
            <a:off x="640080" y="5212080"/>
            <a:ext cx="2377440" cy="658368"/>
          </a:xfrm>
          <a:prstGeom prst="roundRect">
            <a:avLst>
              <a:gd name="adj" fmla="val 12500"/>
            </a:avLst>
          </a:prstGeom>
          <a:solidFill>
            <a:srgbClr val="1E2761"/>
          </a:solidFill>
          <a:ln/>
        </p:spPr>
        <p:txBody>
          <a:bodyPr/>
          <a:lstStyle/>
          <a:p>
            <a:endParaRPr lang="en-US"/>
          </a:p>
        </p:txBody>
      </p:sp>
      <p:sp>
        <p:nvSpPr>
          <p:cNvPr id="26" name="Text 24"/>
          <p:cNvSpPr/>
          <p:nvPr/>
        </p:nvSpPr>
        <p:spPr>
          <a:xfrm>
            <a:off x="640080" y="5212080"/>
            <a:ext cx="2377440" cy="658368"/>
          </a:xfrm>
          <a:prstGeom prst="rect">
            <a:avLst/>
          </a:prstGeom>
          <a:noFill/>
          <a:ln/>
        </p:spPr>
        <p:txBody>
          <a:bodyPr wrap="square" lIns="0" tIns="0" rIns="0" bIns="0" rtlCol="0" anchor="ctr"/>
          <a:lstStyle/>
          <a:p>
            <a:pPr marL="0" indent="0" algn="ctr">
              <a:buNone/>
            </a:pPr>
            <a:r>
              <a:rPr lang="en-US" sz="1300" b="1" dirty="0">
                <a:solidFill>
                  <a:srgbClr val="C9A25D"/>
                </a:solidFill>
                <a:latin typeface="Cambria" pitchFamily="34" charset="0"/>
                <a:ea typeface="Cambria" pitchFamily="34" charset="-122"/>
                <a:cs typeface="Cambria" pitchFamily="34" charset="-120"/>
              </a:rPr>
              <a:t>Path cost g(p)</a:t>
            </a:r>
            <a:endParaRPr lang="en-US" sz="1300" dirty="0"/>
          </a:p>
        </p:txBody>
      </p:sp>
      <p:sp>
        <p:nvSpPr>
          <p:cNvPr id="27" name="Shape 25"/>
          <p:cNvSpPr/>
          <p:nvPr/>
        </p:nvSpPr>
        <p:spPr>
          <a:xfrm>
            <a:off x="3200400" y="5212080"/>
            <a:ext cx="8321040" cy="658368"/>
          </a:xfrm>
          <a:prstGeom prst="roundRect">
            <a:avLst>
              <a:gd name="adj" fmla="val 12500"/>
            </a:avLst>
          </a:prstGeom>
          <a:solidFill>
            <a:srgbClr val="F4F6FB"/>
          </a:solidFill>
          <a:ln w="12700">
            <a:solidFill>
              <a:srgbClr val="CADCFC"/>
            </a:solidFill>
            <a:prstDash val="solid"/>
          </a:ln>
        </p:spPr>
        <p:txBody>
          <a:bodyPr/>
          <a:lstStyle/>
          <a:p>
            <a:endParaRPr lang="en-US"/>
          </a:p>
        </p:txBody>
      </p:sp>
      <p:sp>
        <p:nvSpPr>
          <p:cNvPr id="28" name="Text 26"/>
          <p:cNvSpPr/>
          <p:nvPr/>
        </p:nvSpPr>
        <p:spPr>
          <a:xfrm>
            <a:off x="3429000" y="5212080"/>
            <a:ext cx="7863840" cy="658368"/>
          </a:xfrm>
          <a:prstGeom prst="rect">
            <a:avLst/>
          </a:prstGeom>
          <a:noFill/>
          <a:ln/>
        </p:spPr>
        <p:txBody>
          <a:bodyPr wrap="square" lIns="0" tIns="0" rIns="0" bIns="0"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g(p) = Σ c(s, a, s′) summed along the path</a:t>
            </a:r>
            <a:endParaRPr lang="en-US" sz="1250" dirty="0"/>
          </a:p>
        </p:txBody>
      </p:sp>
      <p:sp>
        <p:nvSpPr>
          <p:cNvPr id="29" name="Text 27"/>
          <p:cNvSpPr/>
          <p:nvPr/>
        </p:nvSpPr>
        <p:spPr>
          <a:xfrm>
            <a:off x="640080" y="6007608"/>
            <a:ext cx="10881360" cy="457200"/>
          </a:xfrm>
          <a:prstGeom prst="rect">
            <a:avLst/>
          </a:prstGeom>
          <a:noFill/>
          <a:ln/>
        </p:spPr>
        <p:txBody>
          <a:bodyPr wrap="square" lIns="0" tIns="0" rIns="0" bIns="0" rtlCol="0" anchor="ctr"/>
          <a:lstStyle/>
          <a:p>
            <a:pPr marL="0" indent="0">
              <a:buNone/>
            </a:pPr>
            <a:r>
              <a:rPr lang="en-US" sz="1200" i="1" dirty="0">
                <a:solidFill>
                  <a:srgbClr val="5B6584"/>
                </a:solidFill>
                <a:latin typeface="Calibri" pitchFamily="34" charset="0"/>
                <a:ea typeface="Calibri" pitchFamily="34" charset="-122"/>
                <a:cs typeface="Calibri" pitchFamily="34" charset="-120"/>
              </a:rPr>
              <a:t>You already formalized the vacuum world exactly this way in Lecture 1 — this is the same five-part structure, generalized. Once formulated, solving proceeds in two stages: search (offline exploration) and execution (carrying out the chosen plan).</a:t>
            </a:r>
            <a:endParaRPr lang="en-US" sz="1200" dirty="0"/>
          </a:p>
        </p:txBody>
      </p:sp>
      <p:sp>
        <p:nvSpPr>
          <p:cNvPr id="30" name="Text 28"/>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31" name="Text 29"/>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REPRESENTATION</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Callback: The Vacuum World's Full State Space</a:t>
            </a:r>
            <a:endParaRPr lang="en-US" sz="2600" dirty="0"/>
          </a:p>
        </p:txBody>
      </p:sp>
      <p:pic>
        <p:nvPicPr>
          <p:cNvPr id="5" name="Image 0" descr="/home/claude/assets2/cleaner_robot_graph.png"/>
          <p:cNvPicPr>
            <a:picLocks noChangeAspect="1"/>
          </p:cNvPicPr>
          <p:nvPr/>
        </p:nvPicPr>
        <p:blipFill>
          <a:blip r:embed="rId3"/>
          <a:srcRect/>
          <a:stretch/>
        </p:blipFill>
        <p:spPr>
          <a:xfrm>
            <a:off x="822960" y="1371600"/>
            <a:ext cx="10515600" cy="475488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PROBLEM FORMULATION</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Example: A Maze as a Search Problem</a:t>
            </a:r>
            <a:endParaRPr lang="en-US" sz="2600" dirty="0"/>
          </a:p>
        </p:txBody>
      </p:sp>
      <p:sp>
        <p:nvSpPr>
          <p:cNvPr id="5" name="Text 3"/>
          <p:cNvSpPr/>
          <p:nvPr/>
        </p:nvSpPr>
        <p:spPr>
          <a:xfrm>
            <a:off x="548640" y="1600200"/>
            <a:ext cx="5120640" cy="4754880"/>
          </a:xfrm>
          <a:prstGeom prst="rect">
            <a:avLst/>
          </a:prstGeom>
          <a:noFill/>
          <a:ln/>
        </p:spPr>
        <p:txBody>
          <a:bodyPr wrap="square" lIns="0" tIns="0" rIns="0" bIns="0" rtlCol="0" anchor="t"/>
          <a:lstStyle/>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Initial state</a:t>
            </a:r>
            <a:r>
              <a:rPr lang="en-US" sz="1450" dirty="0">
                <a:solidFill>
                  <a:srgbClr val="1B1F3B"/>
                </a:solidFill>
                <a:latin typeface="Calibri" pitchFamily="34" charset="0"/>
                <a:ea typeface="Calibri" pitchFamily="34" charset="-122"/>
                <a:cs typeface="Calibri" pitchFamily="34" charset="-120"/>
              </a:rPr>
              <a:t> — the starting cell</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State space</a:t>
            </a:r>
            <a:r>
              <a:rPr lang="en-US" sz="1450" dirty="0">
                <a:solidFill>
                  <a:srgbClr val="1B1F3B"/>
                </a:solidFill>
                <a:latin typeface="Calibri" pitchFamily="34" charset="0"/>
                <a:ea typeface="Calibri" pitchFamily="34" charset="-122"/>
                <a:cs typeface="Calibri" pitchFamily="34" charset="-120"/>
              </a:rPr>
              <a:t> — all reachable grid cells</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Actions</a:t>
            </a:r>
            <a:r>
              <a:rPr lang="en-US" sz="1450" dirty="0">
                <a:solidFill>
                  <a:srgbClr val="1B1F3B"/>
                </a:solidFill>
                <a:latin typeface="Calibri" pitchFamily="34" charset="0"/>
                <a:ea typeface="Calibri" pitchFamily="34" charset="-122"/>
                <a:cs typeface="Calibri" pitchFamily="34" charset="-120"/>
              </a:rPr>
              <a:t> — move up, down, left, or right (if not blocked)</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Transition model</a:t>
            </a:r>
            <a:r>
              <a:rPr lang="en-US" sz="1450" dirty="0">
                <a:solidFill>
                  <a:srgbClr val="1B1F3B"/>
                </a:solidFill>
                <a:latin typeface="Calibri" pitchFamily="34" charset="0"/>
                <a:ea typeface="Calibri" pitchFamily="34" charset="-122"/>
                <a:cs typeface="Calibri" pitchFamily="34" charset="-120"/>
              </a:rPr>
              <a:t> — moving in a direction leads to a neighboring cell</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Goal test</a:t>
            </a:r>
            <a:r>
              <a:rPr lang="en-US" sz="1450" dirty="0">
                <a:solidFill>
                  <a:srgbClr val="1B1F3B"/>
                </a:solidFill>
                <a:latin typeface="Calibri" pitchFamily="34" charset="0"/>
                <a:ea typeface="Calibri" pitchFamily="34" charset="-122"/>
                <a:cs typeface="Calibri" pitchFamily="34" charset="-120"/>
              </a:rPr>
              <a:t> — reaching the exit cell</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Path cost (optional)</a:t>
            </a:r>
            <a:r>
              <a:rPr lang="en-US" sz="1450" dirty="0">
                <a:solidFill>
                  <a:srgbClr val="1B1F3B"/>
                </a:solidFill>
                <a:latin typeface="Calibri" pitchFamily="34" charset="0"/>
                <a:ea typeface="Calibri" pitchFamily="34" charset="-122"/>
                <a:cs typeface="Calibri" pitchFamily="34" charset="-120"/>
              </a:rPr>
              <a:t> — number of steps taken</a:t>
            </a:r>
            <a:endParaRPr lang="en-US" sz="1450" dirty="0"/>
          </a:p>
        </p:txBody>
      </p:sp>
      <p:sp>
        <p:nvSpPr>
          <p:cNvPr id="7"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8"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5</a:t>
            </a:r>
            <a:endParaRPr lang="en-US" sz="1000" dirty="0"/>
          </a:p>
        </p:txBody>
      </p:sp>
      <p:pic>
        <p:nvPicPr>
          <p:cNvPr id="10" name="Picture 4" descr="3 Reasons Why Life is Confusing like a Maze - The Simple Catholic">
            <a:extLst>
              <a:ext uri="{FF2B5EF4-FFF2-40B4-BE49-F238E27FC236}">
                <a16:creationId xmlns:a16="http://schemas.microsoft.com/office/drawing/2014/main" id="{951B13AC-7444-655D-8AF9-9AE5CA6E9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246" y="1554480"/>
            <a:ext cx="3683558" cy="38480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E3F19-5F82-27FC-AA47-D7FE743E922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F41355-28BF-C4A9-D463-EED85A15F8C0}"/>
              </a:ext>
            </a:extLst>
          </p:cNvPr>
          <p:cNvSpPr/>
          <p:nvPr/>
        </p:nvSpPr>
        <p:spPr>
          <a:xfrm>
            <a:off x="0" y="0"/>
            <a:ext cx="12188952" cy="118872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4DB70196-1DC4-0C0F-93E1-A714B715F6EB}"/>
              </a:ext>
            </a:extLst>
          </p:cNvPr>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PROBLEM FORMULATION</a:t>
            </a:r>
            <a:endParaRPr lang="en-US" sz="1200" dirty="0"/>
          </a:p>
        </p:txBody>
      </p:sp>
      <p:sp>
        <p:nvSpPr>
          <p:cNvPr id="4" name="Text 2">
            <a:extLst>
              <a:ext uri="{FF2B5EF4-FFF2-40B4-BE49-F238E27FC236}">
                <a16:creationId xmlns:a16="http://schemas.microsoft.com/office/drawing/2014/main" id="{90F66006-AA62-FF6C-71C9-D4908D93289E}"/>
              </a:ext>
            </a:extLst>
          </p:cNvPr>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Graphs and Nodes</a:t>
            </a:r>
            <a:endParaRPr lang="en-US" sz="2600" dirty="0"/>
          </a:p>
        </p:txBody>
      </p:sp>
      <p:sp>
        <p:nvSpPr>
          <p:cNvPr id="6" name="Text 3">
            <a:extLst>
              <a:ext uri="{FF2B5EF4-FFF2-40B4-BE49-F238E27FC236}">
                <a16:creationId xmlns:a16="http://schemas.microsoft.com/office/drawing/2014/main" id="{159100B2-3C3C-54EA-7E5F-7D1F72CD56D1}"/>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a:extLst>
              <a:ext uri="{FF2B5EF4-FFF2-40B4-BE49-F238E27FC236}">
                <a16:creationId xmlns:a16="http://schemas.microsoft.com/office/drawing/2014/main" id="{48B70EE4-8059-078C-120E-0035A851C750}"/>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6</a:t>
            </a:r>
            <a:endParaRPr lang="en-US" sz="1000"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B7A4DA1-E6E9-27E0-1C8D-D99F2A92B907}"/>
                  </a:ext>
                </a:extLst>
              </p:cNvPr>
              <p:cNvSpPr txBox="1"/>
              <p:nvPr/>
            </p:nvSpPr>
            <p:spPr>
              <a:xfrm>
                <a:off x="619320" y="1951672"/>
                <a:ext cx="7115794" cy="4247317"/>
              </a:xfrm>
              <a:prstGeom prst="rect">
                <a:avLst/>
              </a:prstGeom>
              <a:noFill/>
            </p:spPr>
            <p:txBody>
              <a:bodyPr wrap="none" rtlCol="0">
                <a:spAutoFit/>
              </a:bodyPr>
              <a:lstStyle/>
              <a:p>
                <a:r>
                  <a:rPr lang="en-US" b="1" dirty="0"/>
                  <a:t>Oriented</a:t>
                </a:r>
              </a:p>
              <a:p>
                <a:r>
                  <a:rPr lang="en-US" dirty="0"/>
                  <a:t>(V, E) – vertices and edges</a:t>
                </a:r>
              </a:p>
              <a:p>
                <a:endParaRPr lang="en-US" dirty="0"/>
              </a:p>
              <a:p>
                <a:r>
                  <a:rPr lang="en-US" dirty="0"/>
                  <a:t>E</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V×V</a:t>
                </a:r>
              </a:p>
              <a:p>
                <a14:m>
                  <m:oMathPara xmlns:m="http://schemas.openxmlformats.org/officeDocument/2006/math">
                    <m:oMath>
                      <m:r>
                        <a:rPr lang="en-US" b="0" i="1" smtClean="0">
                          <a:latin typeface="Cambria Math" panose="02040503050406030204" pitchFamily="18" charset="0"/>
                        </a:rPr>
                        <m:t>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a:p>
                <a:endParaRPr lang="en-US" dirty="0"/>
              </a:p>
              <a:p>
                <a:endParaRPr lang="en-US" dirty="0"/>
              </a:p>
              <a:p>
                <a:endParaRPr lang="en-US" dirty="0"/>
              </a:p>
              <a:p>
                <a:endParaRPr lang="en-US" dirty="0"/>
              </a:p>
              <a:p>
                <a:r>
                  <a:rPr lang="en-US" dirty="0"/>
                  <a:t>function CHILD-NODE(problem, parent, action): </a:t>
                </a:r>
              </a:p>
              <a:p>
                <a:r>
                  <a:rPr lang="en-US" dirty="0"/>
                  <a:t>    return Node( </a:t>
                </a:r>
              </a:p>
              <a:p>
                <a:r>
                  <a:rPr lang="en-US" dirty="0"/>
                  <a:t>	state = RESULT(</a:t>
                </a:r>
                <a:r>
                  <a:rPr lang="en-US" dirty="0" err="1"/>
                  <a:t>parent.state</a:t>
                </a:r>
                <a:r>
                  <a:rPr lang="en-US" dirty="0"/>
                  <a:t>, action), </a:t>
                </a:r>
              </a:p>
              <a:p>
                <a:r>
                  <a:rPr lang="en-US" dirty="0"/>
                  <a:t>	parent = parent, action = action, </a:t>
                </a:r>
              </a:p>
              <a:p>
                <a:r>
                  <a:rPr lang="en-US" dirty="0"/>
                  <a:t>	</a:t>
                </a:r>
                <a:r>
                  <a:rPr lang="en-US" dirty="0" err="1"/>
                  <a:t>path_cost</a:t>
                </a:r>
                <a:r>
                  <a:rPr lang="en-US" dirty="0"/>
                  <a:t> = </a:t>
                </a:r>
                <a:r>
                  <a:rPr lang="en-US" dirty="0" err="1"/>
                  <a:t>parent.path_cost</a:t>
                </a:r>
                <a:r>
                  <a:rPr lang="en-US" dirty="0"/>
                  <a:t> + STEP-COST(</a:t>
                </a:r>
                <a:r>
                  <a:rPr lang="en-US" dirty="0" err="1"/>
                  <a:t>parent.state</a:t>
                </a:r>
                <a:r>
                  <a:rPr lang="en-US" dirty="0"/>
                  <a:t>, action) </a:t>
                </a:r>
              </a:p>
              <a:p>
                <a:r>
                  <a:rPr lang="en-US" dirty="0"/>
                  <a:t>    )</a:t>
                </a:r>
              </a:p>
            </p:txBody>
          </p:sp>
        </mc:Choice>
        <mc:Fallback>
          <p:sp>
            <p:nvSpPr>
              <p:cNvPr id="9" name="TextBox 8">
                <a:extLst>
                  <a:ext uri="{FF2B5EF4-FFF2-40B4-BE49-F238E27FC236}">
                    <a16:creationId xmlns:a16="http://schemas.microsoft.com/office/drawing/2014/main" id="{9B7A4DA1-E6E9-27E0-1C8D-D99F2A92B907}"/>
                  </a:ext>
                </a:extLst>
              </p:cNvPr>
              <p:cNvSpPr txBox="1">
                <a:spLocks noRot="1" noChangeAspect="1" noMove="1" noResize="1" noEditPoints="1" noAdjustHandles="1" noChangeArrowheads="1" noChangeShapeType="1" noTextEdit="1"/>
              </p:cNvSpPr>
              <p:nvPr/>
            </p:nvSpPr>
            <p:spPr>
              <a:xfrm>
                <a:off x="619320" y="1951672"/>
                <a:ext cx="7115794" cy="4247317"/>
              </a:xfrm>
              <a:prstGeom prst="rect">
                <a:avLst/>
              </a:prstGeom>
              <a:blipFill>
                <a:blip r:embed="rId3"/>
                <a:stretch>
                  <a:fillRect l="-771" t="-717" b="-1291"/>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ACD3F9FC-A60A-EDDE-D9B5-89548849CCED}"/>
              </a:ext>
            </a:extLst>
          </p:cNvPr>
          <p:cNvPicPr>
            <a:picLocks noChangeAspect="1"/>
          </p:cNvPicPr>
          <p:nvPr/>
        </p:nvPicPr>
        <p:blipFill>
          <a:blip r:embed="rId4"/>
          <a:stretch>
            <a:fillRect/>
          </a:stretch>
        </p:blipFill>
        <p:spPr>
          <a:xfrm>
            <a:off x="6839816" y="1554480"/>
            <a:ext cx="4029113" cy="2615645"/>
          </a:xfrm>
          <a:prstGeom prst="rect">
            <a:avLst/>
          </a:prstGeom>
        </p:spPr>
      </p:pic>
    </p:spTree>
    <p:extLst>
      <p:ext uri="{BB962C8B-B14F-4D97-AF65-F5344CB8AC3E}">
        <p14:creationId xmlns:p14="http://schemas.microsoft.com/office/powerpoint/2010/main" val="1113023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141B47"/>
          </a:solidFill>
          <a:ln/>
        </p:spPr>
        <p:txBody>
          <a:bodyPr/>
          <a:lstStyle/>
          <a:p>
            <a:endParaRPr lang="en-US"/>
          </a:p>
        </p:txBody>
      </p:sp>
      <p:sp>
        <p:nvSpPr>
          <p:cNvPr id="3" name="Text 1"/>
          <p:cNvSpPr/>
          <p:nvPr/>
        </p:nvSpPr>
        <p:spPr>
          <a:xfrm>
            <a:off x="822960" y="2743200"/>
            <a:ext cx="7315200" cy="365760"/>
          </a:xfrm>
          <a:prstGeom prst="rect">
            <a:avLst/>
          </a:prstGeom>
          <a:noFill/>
          <a:ln/>
        </p:spPr>
        <p:txBody>
          <a:bodyPr wrap="square" lIns="0" tIns="0" rIns="0" bIns="0" rtlCol="0" anchor="ctr"/>
          <a:lstStyle/>
          <a:p>
            <a:pPr marL="0" indent="0">
              <a:buNone/>
            </a:pPr>
            <a:r>
              <a:rPr lang="en-US" sz="1400" b="1" kern="0" spc="200" dirty="0">
                <a:solidFill>
                  <a:srgbClr val="C9A25D"/>
                </a:solidFill>
                <a:latin typeface="Calibri" pitchFamily="34" charset="0"/>
                <a:ea typeface="Calibri" pitchFamily="34" charset="-122"/>
                <a:cs typeface="Calibri" pitchFamily="34" charset="-120"/>
              </a:rPr>
              <a:t>PART 1</a:t>
            </a:r>
            <a:endParaRPr lang="en-US" sz="1400" dirty="0"/>
          </a:p>
        </p:txBody>
      </p:sp>
      <p:sp>
        <p:nvSpPr>
          <p:cNvPr id="4" name="Text 2"/>
          <p:cNvSpPr/>
          <p:nvPr/>
        </p:nvSpPr>
        <p:spPr>
          <a:xfrm>
            <a:off x="777240" y="3108960"/>
            <a:ext cx="105156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Uninformed Search</a:t>
            </a:r>
            <a:endParaRPr lang="en-US" sz="4000" dirty="0"/>
          </a:p>
        </p:txBody>
      </p:sp>
      <p:sp>
        <p:nvSpPr>
          <p:cNvPr id="5" name="Text 3"/>
          <p:cNvSpPr/>
          <p:nvPr/>
        </p:nvSpPr>
        <p:spPr>
          <a:xfrm>
            <a:off x="822960" y="411480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Using only the problem definition — no sense of which unexplored node is more promising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UNINFORMED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r>
              <a:rPr lang="en-US" sz="2700" b="1" dirty="0">
                <a:solidFill>
                  <a:srgbClr val="FFFFFF"/>
                </a:solidFill>
                <a:latin typeface="Cambria" pitchFamily="34" charset="0"/>
                <a:ea typeface="Cambria" pitchFamily="34" charset="-122"/>
                <a:cs typeface="Cambria" pitchFamily="34" charset="-120"/>
              </a:rPr>
              <a:t>Depth-First Search (DFS) </a:t>
            </a:r>
            <a:r>
              <a:rPr lang="en-US" sz="2800" dirty="0">
                <a:solidFill>
                  <a:schemeClr val="bg1"/>
                </a:solidFill>
                <a:latin typeface="Calibri" pitchFamily="34" charset="0"/>
                <a:ea typeface="Calibri" pitchFamily="34" charset="-122"/>
                <a:cs typeface="Calibri" pitchFamily="34" charset="-120"/>
              </a:rPr>
              <a:t>frontier is a LIFO stack</a:t>
            </a:r>
            <a:endParaRPr lang="en-US" sz="2700" dirty="0">
              <a:solidFill>
                <a:schemeClr val="bg1"/>
              </a:solidFill>
            </a:endParaRPr>
          </a:p>
        </p:txBody>
      </p:sp>
      <p:sp>
        <p:nvSpPr>
          <p:cNvPr id="6" name="Shape 4"/>
          <p:cNvSpPr/>
          <p:nvPr/>
        </p:nvSpPr>
        <p:spPr>
          <a:xfrm>
            <a:off x="5943600" y="1686464"/>
            <a:ext cx="5943600" cy="4714336"/>
          </a:xfrm>
          <a:prstGeom prst="roundRect">
            <a:avLst>
              <a:gd name="adj" fmla="val 1702"/>
            </a:avLst>
          </a:prstGeom>
          <a:solidFill>
            <a:srgbClr val="F4F6FB"/>
          </a:solidFill>
          <a:ln w="12700">
            <a:solidFill>
              <a:srgbClr val="CADCFC"/>
            </a:solidFill>
            <a:prstDash val="solid"/>
          </a:ln>
        </p:spPr>
        <p:txBody>
          <a:bodyPr/>
          <a:lstStyle/>
          <a:p>
            <a:endParaRPr lang="en-US"/>
          </a:p>
        </p:txBody>
      </p:sp>
      <p:sp>
        <p:nvSpPr>
          <p:cNvPr id="7" name="Text 5"/>
          <p:cNvSpPr/>
          <p:nvPr/>
        </p:nvSpPr>
        <p:spPr>
          <a:xfrm>
            <a:off x="6156960" y="1874520"/>
            <a:ext cx="5486400" cy="3931920"/>
          </a:xfrm>
          <a:prstGeom prst="rect">
            <a:avLst/>
          </a:prstGeom>
          <a:noFill/>
          <a:ln/>
        </p:spPr>
        <p:txBody>
          <a:bodyPr wrap="square" lIns="0" tIns="0" rIns="0" bIns="0" rtlCol="0" anchor="t"/>
          <a:lstStyle/>
          <a:p>
            <a:pPr>
              <a:spcAft>
                <a:spcPts val="300"/>
              </a:spcAft>
            </a:pPr>
            <a:r>
              <a:rPr lang="en-US" sz="1250" dirty="0">
                <a:solidFill>
                  <a:srgbClr val="1E2761"/>
                </a:solidFill>
                <a:latin typeface="Consolas" pitchFamily="34" charset="0"/>
              </a:rPr>
              <a:t>function DFS(problem): </a:t>
            </a:r>
          </a:p>
          <a:p>
            <a:pPr>
              <a:spcAft>
                <a:spcPts val="300"/>
              </a:spcAft>
            </a:pPr>
            <a:r>
              <a:rPr lang="en-US" sz="1250" dirty="0">
                <a:solidFill>
                  <a:srgbClr val="1E2761"/>
                </a:solidFill>
                <a:latin typeface="Consolas" pitchFamily="34" charset="0"/>
              </a:rPr>
              <a:t>    frontier ← Stack([Node(state=</a:t>
            </a:r>
            <a:r>
              <a:rPr lang="en-US" sz="1250" dirty="0" err="1">
                <a:solidFill>
                  <a:srgbClr val="1E2761"/>
                </a:solidFill>
                <a:latin typeface="Consolas" pitchFamily="34" charset="0"/>
              </a:rPr>
              <a:t>problem.initial</a:t>
            </a:r>
            <a:r>
              <a:rPr lang="en-US" sz="1250" dirty="0">
                <a:solidFill>
                  <a:srgbClr val="1E2761"/>
                </a:solidFill>
                <a:latin typeface="Consolas" pitchFamily="34" charset="0"/>
              </a:rPr>
              <a:t>, parent=None, </a:t>
            </a:r>
          </a:p>
          <a:p>
            <a:pPr>
              <a:spcAft>
                <a:spcPts val="300"/>
              </a:spcAft>
            </a:pPr>
            <a:r>
              <a:rPr lang="en-US" sz="1250" dirty="0">
                <a:solidFill>
                  <a:srgbClr val="1E2761"/>
                </a:solidFill>
                <a:latin typeface="Consolas" pitchFamily="34" charset="0"/>
              </a:rPr>
              <a:t>			action=None, </a:t>
            </a:r>
            <a:r>
              <a:rPr lang="en-US" sz="1250" dirty="0" err="1">
                <a:solidFill>
                  <a:srgbClr val="1E2761"/>
                </a:solidFill>
                <a:latin typeface="Consolas" pitchFamily="34" charset="0"/>
              </a:rPr>
              <a:t>path_cost</a:t>
            </a:r>
            <a:r>
              <a:rPr lang="en-US" sz="1250" dirty="0">
                <a:solidFill>
                  <a:srgbClr val="1E2761"/>
                </a:solidFill>
                <a:latin typeface="Consolas" pitchFamily="34" charset="0"/>
              </a:rPr>
              <a:t>=0)]) </a:t>
            </a:r>
          </a:p>
          <a:p>
            <a:pPr>
              <a:spcAft>
                <a:spcPts val="300"/>
              </a:spcAft>
            </a:pPr>
            <a:r>
              <a:rPr lang="en-US" sz="1250" dirty="0">
                <a:solidFill>
                  <a:srgbClr val="1E2761"/>
                </a:solidFill>
                <a:latin typeface="Consolas" pitchFamily="34" charset="0"/>
              </a:rPr>
              <a:t>    explored ← {} </a:t>
            </a:r>
          </a:p>
          <a:p>
            <a:pPr>
              <a:spcAft>
                <a:spcPts val="300"/>
              </a:spcAft>
            </a:pPr>
            <a:endParaRPr lang="en-US" sz="1250" dirty="0">
              <a:solidFill>
                <a:srgbClr val="1E2761"/>
              </a:solidFill>
              <a:latin typeface="Consolas" pitchFamily="34" charset="0"/>
            </a:endParaRPr>
          </a:p>
          <a:p>
            <a:pPr>
              <a:spcAft>
                <a:spcPts val="300"/>
              </a:spcAft>
            </a:pPr>
            <a:r>
              <a:rPr lang="en-US" sz="1250" dirty="0">
                <a:solidFill>
                  <a:srgbClr val="1E2761"/>
                </a:solidFill>
                <a:latin typeface="Consolas" pitchFamily="34" charset="0"/>
              </a:rPr>
              <a:t>    while frontier is not empty: </a:t>
            </a:r>
          </a:p>
          <a:p>
            <a:pPr>
              <a:spcAft>
                <a:spcPts val="300"/>
              </a:spcAft>
            </a:pPr>
            <a:r>
              <a:rPr lang="en-US" sz="1250" dirty="0">
                <a:solidFill>
                  <a:srgbClr val="1E2761"/>
                </a:solidFill>
                <a:latin typeface="Consolas" pitchFamily="34" charset="0"/>
              </a:rPr>
              <a:t>	node ← </a:t>
            </a:r>
            <a:r>
              <a:rPr lang="en-US" sz="1250" dirty="0" err="1">
                <a:solidFill>
                  <a:srgbClr val="1E2761"/>
                </a:solidFill>
                <a:latin typeface="Consolas" pitchFamily="34" charset="0"/>
              </a:rPr>
              <a:t>frontier.pop</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if </a:t>
            </a:r>
            <a:r>
              <a:rPr lang="en-US" sz="1250" dirty="0" err="1">
                <a:solidFill>
                  <a:srgbClr val="1E2761"/>
                </a:solidFill>
                <a:latin typeface="Consolas" pitchFamily="34" charset="0"/>
              </a:rPr>
              <a:t>node.state</a:t>
            </a:r>
            <a:r>
              <a:rPr lang="en-US" sz="1250" dirty="0">
                <a:solidFill>
                  <a:srgbClr val="1E2761"/>
                </a:solidFill>
                <a:latin typeface="Consolas" pitchFamily="34" charset="0"/>
              </a:rPr>
              <a:t> in explored: </a:t>
            </a:r>
          </a:p>
          <a:p>
            <a:pPr>
              <a:spcAft>
                <a:spcPts val="300"/>
              </a:spcAft>
            </a:pPr>
            <a:r>
              <a:rPr lang="en-US" sz="1250" dirty="0">
                <a:solidFill>
                  <a:srgbClr val="1E2761"/>
                </a:solidFill>
                <a:latin typeface="Consolas" pitchFamily="34" charset="0"/>
              </a:rPr>
              <a:t>	    continue </a:t>
            </a:r>
          </a:p>
          <a:p>
            <a:pPr>
              <a:spcAft>
                <a:spcPts val="300"/>
              </a:spcAft>
            </a:pPr>
            <a:r>
              <a:rPr lang="en-US" sz="1250" dirty="0">
                <a:solidFill>
                  <a:srgbClr val="1E2761"/>
                </a:solidFill>
                <a:latin typeface="Consolas" pitchFamily="34" charset="0"/>
              </a:rPr>
              <a:t>	</a:t>
            </a:r>
            <a:r>
              <a:rPr lang="en-US" sz="1250" dirty="0" err="1">
                <a:solidFill>
                  <a:srgbClr val="1E2761"/>
                </a:solidFill>
                <a:latin typeface="Consolas" pitchFamily="34" charset="0"/>
              </a:rPr>
              <a:t>explored.add</a:t>
            </a:r>
            <a:r>
              <a:rPr lang="en-US" sz="1250" dirty="0">
                <a:solidFill>
                  <a:srgbClr val="1E2761"/>
                </a:solidFill>
                <a:latin typeface="Consolas" pitchFamily="34" charset="0"/>
              </a:rPr>
              <a:t>(</a:t>
            </a:r>
            <a:r>
              <a:rPr lang="en-US" sz="1250" dirty="0" err="1">
                <a:solidFill>
                  <a:srgbClr val="1E2761"/>
                </a:solidFill>
                <a:latin typeface="Consolas" pitchFamily="34" charset="0"/>
              </a:rPr>
              <a:t>node.state</a:t>
            </a:r>
            <a:r>
              <a:rPr lang="en-US" sz="1250" dirty="0">
                <a:solidFill>
                  <a:srgbClr val="1E2761"/>
                </a:solidFill>
                <a:latin typeface="Consolas" pitchFamily="34" charset="0"/>
              </a:rPr>
              <a:t>) </a:t>
            </a:r>
          </a:p>
          <a:p>
            <a:pPr>
              <a:spcAft>
                <a:spcPts val="300"/>
              </a:spcAft>
            </a:pPr>
            <a:endParaRPr lang="en-US" sz="1250" dirty="0">
              <a:solidFill>
                <a:srgbClr val="1E2761"/>
              </a:solidFill>
              <a:latin typeface="Consolas" pitchFamily="34" charset="0"/>
            </a:endParaRPr>
          </a:p>
          <a:p>
            <a:pPr>
              <a:spcAft>
                <a:spcPts val="300"/>
              </a:spcAft>
            </a:pPr>
            <a:r>
              <a:rPr lang="en-US" sz="1250" dirty="0">
                <a:solidFill>
                  <a:srgbClr val="1E2761"/>
                </a:solidFill>
                <a:latin typeface="Consolas" pitchFamily="34" charset="0"/>
              </a:rPr>
              <a:t>	if GOAL-TEST(</a:t>
            </a:r>
            <a:r>
              <a:rPr lang="en-US" sz="1250" dirty="0" err="1">
                <a:solidFill>
                  <a:srgbClr val="1E2761"/>
                </a:solidFill>
                <a:latin typeface="Consolas" pitchFamily="34" charset="0"/>
              </a:rPr>
              <a:t>node.state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return SOLUTION(node) </a:t>
            </a:r>
          </a:p>
          <a:p>
            <a:pPr>
              <a:spcAft>
                <a:spcPts val="300"/>
              </a:spcAft>
            </a:pPr>
            <a:endParaRPr lang="en-US" sz="1250" dirty="0">
              <a:solidFill>
                <a:srgbClr val="1E2761"/>
              </a:solidFill>
              <a:latin typeface="Consolas" pitchFamily="34" charset="0"/>
            </a:endParaRPr>
          </a:p>
          <a:p>
            <a:pPr>
              <a:spcAft>
                <a:spcPts val="300"/>
              </a:spcAft>
            </a:pPr>
            <a:r>
              <a:rPr lang="en-US" sz="1250" dirty="0">
                <a:solidFill>
                  <a:srgbClr val="1E2761"/>
                </a:solidFill>
                <a:latin typeface="Consolas" pitchFamily="34" charset="0"/>
              </a:rPr>
              <a:t>	for action in ACTIONS(problem, </a:t>
            </a:r>
            <a:r>
              <a:rPr lang="en-US" sz="1250" dirty="0" err="1">
                <a:solidFill>
                  <a:srgbClr val="1E2761"/>
                </a:solidFill>
                <a:latin typeface="Consolas" pitchFamily="34" charset="0"/>
              </a:rPr>
              <a:t>node.state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child ← CHILD-NODE(problem, node, action) </a:t>
            </a:r>
          </a:p>
          <a:p>
            <a:pPr>
              <a:spcAft>
                <a:spcPts val="300"/>
              </a:spcAft>
            </a:pPr>
            <a:r>
              <a:rPr lang="en-US" sz="1250" dirty="0">
                <a:solidFill>
                  <a:srgbClr val="1E2761"/>
                </a:solidFill>
                <a:latin typeface="Consolas" pitchFamily="34" charset="0"/>
              </a:rPr>
              <a:t>	    if </a:t>
            </a:r>
            <a:r>
              <a:rPr lang="en-US" sz="1250" dirty="0" err="1">
                <a:solidFill>
                  <a:srgbClr val="1E2761"/>
                </a:solidFill>
                <a:latin typeface="Consolas" pitchFamily="34" charset="0"/>
              </a:rPr>
              <a:t>child.state</a:t>
            </a:r>
            <a:r>
              <a:rPr lang="en-US" sz="1250" dirty="0">
                <a:solidFill>
                  <a:srgbClr val="1E2761"/>
                </a:solidFill>
                <a:latin typeface="Consolas" pitchFamily="34" charset="0"/>
              </a:rPr>
              <a:t> not in explored:</a:t>
            </a:r>
          </a:p>
          <a:p>
            <a:pPr>
              <a:spcAft>
                <a:spcPts val="300"/>
              </a:spcAft>
            </a:pPr>
            <a:r>
              <a:rPr lang="en-US" sz="1250" dirty="0">
                <a:solidFill>
                  <a:srgbClr val="1E2761"/>
                </a:solidFill>
                <a:latin typeface="Consolas" pitchFamily="34" charset="0"/>
              </a:rPr>
              <a:t>		</a:t>
            </a:r>
            <a:r>
              <a:rPr lang="en-US" sz="1250" dirty="0" err="1">
                <a:solidFill>
                  <a:srgbClr val="1E2761"/>
                </a:solidFill>
                <a:latin typeface="Consolas" pitchFamily="34" charset="0"/>
              </a:rPr>
              <a:t>frontier.push</a:t>
            </a:r>
            <a:r>
              <a:rPr lang="en-US" sz="1250" dirty="0">
                <a:solidFill>
                  <a:srgbClr val="1E2761"/>
                </a:solidFill>
                <a:latin typeface="Consolas" pitchFamily="34" charset="0"/>
              </a:rPr>
              <a:t>(child) </a:t>
            </a:r>
          </a:p>
          <a:p>
            <a:pPr>
              <a:spcAft>
                <a:spcPts val="300"/>
              </a:spcAft>
            </a:pPr>
            <a:r>
              <a:rPr lang="en-US" sz="1250" dirty="0">
                <a:solidFill>
                  <a:srgbClr val="1E2761"/>
                </a:solidFill>
                <a:latin typeface="Consolas" pitchFamily="34" charset="0"/>
              </a:rPr>
              <a:t>    return failure</a:t>
            </a:r>
          </a:p>
        </p:txBody>
      </p:sp>
      <p:sp>
        <p:nvSpPr>
          <p:cNvPr id="8" name="Text 6"/>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8</a:t>
            </a:r>
            <a:endParaRPr lang="en-US" sz="1000" dirty="0"/>
          </a:p>
        </p:txBody>
      </p:sp>
      <p:sp>
        <p:nvSpPr>
          <p:cNvPr id="11" name="Text 3">
            <a:extLst>
              <a:ext uri="{FF2B5EF4-FFF2-40B4-BE49-F238E27FC236}">
                <a16:creationId xmlns:a16="http://schemas.microsoft.com/office/drawing/2014/main" id="{97C6B637-ACE9-2AB5-7F1C-2D9791A56F17}"/>
              </a:ext>
            </a:extLst>
          </p:cNvPr>
          <p:cNvSpPr/>
          <p:nvPr/>
        </p:nvSpPr>
        <p:spPr>
          <a:xfrm>
            <a:off x="548640" y="1456138"/>
            <a:ext cx="4937760" cy="1574321"/>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Frontier — nodes generated but not yet expanded</a:t>
            </a:r>
            <a:endParaRPr lang="en-US" sz="1500" dirty="0"/>
          </a:p>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Expansion — generating child nodes by applying actions to a selected node</a:t>
            </a:r>
            <a:endParaRPr lang="en-US" sz="1500" dirty="0"/>
          </a:p>
          <a:p>
            <a:pPr marL="342900" indent="-342900">
              <a:spcAft>
                <a:spcPts val="1100"/>
              </a:spcAft>
              <a:buSzPct val="100000"/>
              <a:buChar char="•"/>
            </a:pPr>
            <a:r>
              <a:rPr lang="en-US" sz="1500" b="1" dirty="0">
                <a:solidFill>
                  <a:srgbClr val="1B1F3B"/>
                </a:solidFill>
                <a:latin typeface="Calibri" pitchFamily="34" charset="0"/>
                <a:ea typeface="Calibri" pitchFamily="34" charset="-122"/>
                <a:cs typeface="Calibri" pitchFamily="34" charset="-120"/>
              </a:rPr>
              <a:t>Selection (the search strategy) — deciding which frontier node to expand next</a:t>
            </a:r>
            <a:endParaRPr lang="en-US" sz="1500" dirty="0"/>
          </a:p>
        </p:txBody>
      </p:sp>
      <p:pic>
        <p:nvPicPr>
          <p:cNvPr id="12" name="Picture 11">
            <a:extLst>
              <a:ext uri="{FF2B5EF4-FFF2-40B4-BE49-F238E27FC236}">
                <a16:creationId xmlns:a16="http://schemas.microsoft.com/office/drawing/2014/main" id="{8455B852-1240-274B-D046-7806D949882D}"/>
              </a:ext>
            </a:extLst>
          </p:cNvPr>
          <p:cNvPicPr>
            <a:picLocks noChangeAspect="1"/>
          </p:cNvPicPr>
          <p:nvPr/>
        </p:nvPicPr>
        <p:blipFill>
          <a:blip r:embed="rId3"/>
          <a:stretch>
            <a:fillRect/>
          </a:stretch>
        </p:blipFill>
        <p:spPr>
          <a:xfrm>
            <a:off x="-5537" y="3080743"/>
            <a:ext cx="5863735" cy="35760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REPRESENTATION</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Running Example: The Frontier During Search</a:t>
            </a:r>
            <a:endParaRPr lang="en-US" sz="2600" dirty="0"/>
          </a:p>
        </p:txBody>
      </p:sp>
      <p:pic>
        <p:nvPicPr>
          <p:cNvPr id="5" name="Image 0" descr="/home/claude/assets2/frontier_trace.png"/>
          <p:cNvPicPr>
            <a:picLocks noChangeAspect="1"/>
          </p:cNvPicPr>
          <p:nvPr/>
        </p:nvPicPr>
        <p:blipFill>
          <a:blip r:embed="rId3"/>
          <a:srcRect/>
          <a:stretch/>
        </p:blipFill>
        <p:spPr>
          <a:xfrm>
            <a:off x="822960" y="1325880"/>
            <a:ext cx="10515600" cy="493776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UNINFORMED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r>
              <a:rPr lang="en-US" sz="2700" b="1" dirty="0">
                <a:solidFill>
                  <a:srgbClr val="FFFFFF"/>
                </a:solidFill>
                <a:latin typeface="Cambria" pitchFamily="34" charset="0"/>
                <a:ea typeface="Cambria" pitchFamily="34" charset="-122"/>
                <a:cs typeface="Cambria" pitchFamily="34" charset="-120"/>
              </a:rPr>
              <a:t>Breadth-First Search (BFS) </a:t>
            </a:r>
            <a:r>
              <a:rPr lang="en-US" sz="2800" dirty="0">
                <a:solidFill>
                  <a:schemeClr val="bg1"/>
                </a:solidFill>
              </a:rPr>
              <a:t>uses a FIFO stack</a:t>
            </a:r>
            <a:endParaRPr lang="en-US" sz="2700" dirty="0">
              <a:solidFill>
                <a:schemeClr val="bg1"/>
              </a:solidFill>
            </a:endParaRPr>
          </a:p>
        </p:txBody>
      </p:sp>
      <p:sp>
        <p:nvSpPr>
          <p:cNvPr id="5" name="Text 3"/>
          <p:cNvSpPr/>
          <p:nvPr/>
        </p:nvSpPr>
        <p:spPr>
          <a:xfrm>
            <a:off x="548640" y="1600200"/>
            <a:ext cx="4937760" cy="4663440"/>
          </a:xfrm>
          <a:prstGeom prst="rect">
            <a:avLst/>
          </a:prstGeom>
          <a:noFill/>
          <a:ln/>
        </p:spPr>
        <p:txBody>
          <a:bodyPr wrap="square" lIns="0" tIns="0" rIns="0" bIns="0" rtlCol="0" anchor="t"/>
          <a:lstStyle/>
          <a:p>
            <a:pPr marL="342900" indent="-342900">
              <a:spcAft>
                <a:spcPts val="1100"/>
              </a:spcAft>
              <a:buSzPct val="100000"/>
              <a:buChar char="•"/>
            </a:pPr>
            <a:r>
              <a:rPr lang="en-US" sz="1550" b="1" dirty="0">
                <a:solidFill>
                  <a:srgbClr val="1B1F3B"/>
                </a:solidFill>
                <a:latin typeface="Calibri" pitchFamily="34" charset="0"/>
                <a:ea typeface="Calibri" pitchFamily="34" charset="-122"/>
                <a:cs typeface="Calibri" pitchFamily="34" charset="-120"/>
              </a:rPr>
              <a:t>Strategy: expand the shallowest frontier node first</a:t>
            </a:r>
            <a:endParaRPr lang="en-US" sz="1550" dirty="0"/>
          </a:p>
          <a:p>
            <a:pPr marL="342900" indent="-342900">
              <a:spcAft>
                <a:spcPts val="1100"/>
              </a:spcAft>
              <a:buSzPct val="100000"/>
              <a:buChar char="•"/>
            </a:pPr>
            <a:r>
              <a:rPr lang="en-US" sz="1550" dirty="0">
                <a:solidFill>
                  <a:srgbClr val="1B1F3B"/>
                </a:solidFill>
                <a:latin typeface="Calibri" pitchFamily="34" charset="0"/>
                <a:ea typeface="Calibri" pitchFamily="34" charset="-122"/>
                <a:cs typeface="Calibri" pitchFamily="34" charset="-120"/>
              </a:rPr>
              <a:t>Implementation: frontier is a FIFO queue</a:t>
            </a:r>
            <a:endParaRPr lang="en-US" sz="1550" dirty="0"/>
          </a:p>
          <a:p>
            <a:pPr marL="342900" indent="-342900">
              <a:spcAft>
                <a:spcPts val="1100"/>
              </a:spcAft>
              <a:buSzPct val="100000"/>
              <a:buChar char="•"/>
            </a:pPr>
            <a:r>
              <a:rPr lang="en-US" sz="1550" dirty="0">
                <a:solidFill>
                  <a:srgbClr val="1B1F3B"/>
                </a:solidFill>
                <a:latin typeface="Calibri" pitchFamily="34" charset="0"/>
                <a:ea typeface="Calibri" pitchFamily="34" charset="-122"/>
                <a:cs typeface="Calibri" pitchFamily="34" charset="-120"/>
              </a:rPr>
              <a:t>Explores all possibilities level by level, systematically</a:t>
            </a:r>
            <a:endParaRPr lang="en-US" sz="1550" dirty="0"/>
          </a:p>
          <a:p>
            <a:pPr marL="342900" indent="-342900">
              <a:spcAft>
                <a:spcPts val="1100"/>
              </a:spcAft>
              <a:buSzPct val="100000"/>
              <a:buChar char="•"/>
            </a:pPr>
            <a:r>
              <a:rPr lang="en-US" sz="1550" dirty="0">
                <a:solidFill>
                  <a:srgbClr val="1B1F3B"/>
                </a:solidFill>
                <a:latin typeface="Calibri" pitchFamily="34" charset="0"/>
                <a:ea typeface="Calibri" pitchFamily="34" charset="-122"/>
                <a:cs typeface="Calibri" pitchFamily="34" charset="-120"/>
              </a:rPr>
              <a:t>All nodes at depth d enter the queue before any node at depth d+1</a:t>
            </a:r>
            <a:endParaRPr lang="en-US" sz="1550" dirty="0"/>
          </a:p>
          <a:p>
            <a:pPr marL="342900" indent="-342900">
              <a:spcAft>
                <a:spcPts val="1100"/>
              </a:spcAft>
              <a:buSzPct val="100000"/>
              <a:buChar char="•"/>
            </a:pPr>
            <a:r>
              <a:rPr lang="en-US" sz="1550" b="1" dirty="0">
                <a:solidFill>
                  <a:srgbClr val="1B1F3B"/>
                </a:solidFill>
                <a:latin typeface="Calibri" pitchFamily="34" charset="0"/>
                <a:ea typeface="Calibri" pitchFamily="34" charset="-122"/>
                <a:cs typeface="Calibri" pitchFamily="34" charset="-120"/>
              </a:rPr>
              <a:t>High memory — must store an entire frontier layer at once</a:t>
            </a:r>
            <a:endParaRPr lang="en-US" sz="1550" dirty="0"/>
          </a:p>
        </p:txBody>
      </p:sp>
      <p:sp>
        <p:nvSpPr>
          <p:cNvPr id="6" name="Shape 4"/>
          <p:cNvSpPr/>
          <p:nvPr/>
        </p:nvSpPr>
        <p:spPr>
          <a:xfrm>
            <a:off x="6211797" y="1389887"/>
            <a:ext cx="5713765" cy="4786625"/>
          </a:xfrm>
          <a:prstGeom prst="roundRect">
            <a:avLst>
              <a:gd name="adj" fmla="val 1702"/>
            </a:avLst>
          </a:prstGeom>
          <a:solidFill>
            <a:srgbClr val="F4F6FB"/>
          </a:solidFill>
          <a:ln w="12700">
            <a:solidFill>
              <a:srgbClr val="CADCFC"/>
            </a:solidFill>
            <a:prstDash val="solid"/>
          </a:ln>
        </p:spPr>
        <p:txBody>
          <a:bodyPr/>
          <a:lstStyle/>
          <a:p>
            <a:endParaRPr lang="en-US"/>
          </a:p>
        </p:txBody>
      </p:sp>
      <p:sp>
        <p:nvSpPr>
          <p:cNvPr id="7" name="Text 5"/>
          <p:cNvSpPr/>
          <p:nvPr/>
        </p:nvSpPr>
        <p:spPr>
          <a:xfrm>
            <a:off x="6280030" y="1554480"/>
            <a:ext cx="5645532" cy="4494362"/>
          </a:xfrm>
          <a:prstGeom prst="rect">
            <a:avLst/>
          </a:prstGeom>
          <a:noFill/>
          <a:ln/>
        </p:spPr>
        <p:txBody>
          <a:bodyPr wrap="square" lIns="0" tIns="0" rIns="0" bIns="0" rtlCol="0" anchor="t"/>
          <a:lstStyle/>
          <a:p>
            <a:pPr>
              <a:spcAft>
                <a:spcPts val="300"/>
              </a:spcAft>
            </a:pPr>
            <a:r>
              <a:rPr lang="en-US" sz="1250" dirty="0">
                <a:solidFill>
                  <a:srgbClr val="1E2761"/>
                </a:solidFill>
                <a:latin typeface="Consolas" pitchFamily="34" charset="0"/>
              </a:rPr>
              <a:t>function BFS(problem):    </a:t>
            </a:r>
          </a:p>
          <a:p>
            <a:pPr>
              <a:spcAft>
                <a:spcPts val="300"/>
              </a:spcAft>
            </a:pPr>
            <a:r>
              <a:rPr lang="en-US" sz="1250" dirty="0">
                <a:solidFill>
                  <a:srgbClr val="1E2761"/>
                </a:solidFill>
                <a:latin typeface="Consolas" pitchFamily="34" charset="0"/>
              </a:rPr>
              <a:t>    root ← Node(state=</a:t>
            </a:r>
            <a:r>
              <a:rPr lang="en-US" sz="1250" dirty="0" err="1">
                <a:solidFill>
                  <a:srgbClr val="1E2761"/>
                </a:solidFill>
                <a:latin typeface="Consolas" pitchFamily="34" charset="0"/>
              </a:rPr>
              <a:t>problem.initial</a:t>
            </a:r>
            <a:r>
              <a:rPr lang="en-US" sz="1250" dirty="0">
                <a:solidFill>
                  <a:srgbClr val="1E2761"/>
                </a:solidFill>
                <a:latin typeface="Consolas" pitchFamily="34" charset="0"/>
              </a:rPr>
              <a:t>, parent=None, </a:t>
            </a:r>
          </a:p>
          <a:p>
            <a:pPr>
              <a:spcAft>
                <a:spcPts val="300"/>
              </a:spcAft>
            </a:pPr>
            <a:r>
              <a:rPr lang="en-US" sz="1250" dirty="0">
                <a:solidFill>
                  <a:srgbClr val="1E2761"/>
                </a:solidFill>
                <a:latin typeface="Consolas" pitchFamily="34" charset="0"/>
              </a:rPr>
              <a:t>                action=None, </a:t>
            </a:r>
            <a:r>
              <a:rPr lang="en-US" sz="1250" dirty="0" err="1">
                <a:solidFill>
                  <a:srgbClr val="1E2761"/>
                </a:solidFill>
                <a:latin typeface="Consolas" pitchFamily="34" charset="0"/>
              </a:rPr>
              <a:t>path_cost</a:t>
            </a:r>
            <a:r>
              <a:rPr lang="en-US" sz="1250" dirty="0">
                <a:solidFill>
                  <a:srgbClr val="1E2761"/>
                </a:solidFill>
                <a:latin typeface="Consolas" pitchFamily="34" charset="0"/>
              </a:rPr>
              <a:t>=0)    </a:t>
            </a:r>
          </a:p>
          <a:p>
            <a:pPr>
              <a:spcAft>
                <a:spcPts val="300"/>
              </a:spcAft>
            </a:pPr>
            <a:r>
              <a:rPr lang="en-US" sz="1250" dirty="0">
                <a:solidFill>
                  <a:srgbClr val="1E2761"/>
                </a:solidFill>
                <a:latin typeface="Consolas" pitchFamily="34" charset="0"/>
              </a:rPr>
              <a:t>    if GOAL-TEST(</a:t>
            </a:r>
            <a:r>
              <a:rPr lang="en-US" sz="1250" dirty="0" err="1">
                <a:solidFill>
                  <a:srgbClr val="1E2761"/>
                </a:solidFill>
                <a:latin typeface="Consolas" pitchFamily="34" charset="0"/>
              </a:rPr>
              <a:t>root.state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return SOLUTION(root)    </a:t>
            </a:r>
          </a:p>
          <a:p>
            <a:pPr>
              <a:spcAft>
                <a:spcPts val="300"/>
              </a:spcAft>
            </a:pPr>
            <a:r>
              <a:rPr lang="en-US" sz="1250" dirty="0">
                <a:solidFill>
                  <a:srgbClr val="1E2761"/>
                </a:solidFill>
                <a:latin typeface="Consolas" pitchFamily="34" charset="0"/>
              </a:rPr>
              <a:t>    frontier ← Queue([root])              # FIFO, not a stack       </a:t>
            </a:r>
          </a:p>
          <a:p>
            <a:pPr>
              <a:spcAft>
                <a:spcPts val="300"/>
              </a:spcAft>
            </a:pPr>
            <a:r>
              <a:rPr lang="en-US" sz="1250" dirty="0">
                <a:solidFill>
                  <a:srgbClr val="1E2761"/>
                </a:solidFill>
                <a:latin typeface="Consolas" pitchFamily="34" charset="0"/>
              </a:rPr>
              <a:t>    </a:t>
            </a:r>
            <a:r>
              <a:rPr lang="en-US" sz="1250" dirty="0" err="1">
                <a:solidFill>
                  <a:srgbClr val="1E2761"/>
                </a:solidFill>
                <a:latin typeface="Consolas" pitchFamily="34" charset="0"/>
              </a:rPr>
              <a:t>frontier_states</a:t>
            </a:r>
            <a:r>
              <a:rPr lang="en-US" sz="1250" dirty="0">
                <a:solidFill>
                  <a:srgbClr val="1E2761"/>
                </a:solidFill>
                <a:latin typeface="Consolas" pitchFamily="34" charset="0"/>
              </a:rPr>
              <a:t> ← {</a:t>
            </a:r>
            <a:r>
              <a:rPr lang="en-US" sz="1250" dirty="0" err="1">
                <a:solidFill>
                  <a:srgbClr val="1E2761"/>
                </a:solidFill>
                <a:latin typeface="Consolas" pitchFamily="34" charset="0"/>
              </a:rPr>
              <a:t>root.state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explored ← {}    </a:t>
            </a:r>
          </a:p>
          <a:p>
            <a:pPr>
              <a:spcAft>
                <a:spcPts val="300"/>
              </a:spcAft>
            </a:pPr>
            <a:r>
              <a:rPr lang="en-US" sz="1250" dirty="0">
                <a:solidFill>
                  <a:srgbClr val="1E2761"/>
                </a:solidFill>
                <a:latin typeface="Consolas" pitchFamily="34" charset="0"/>
              </a:rPr>
              <a:t>    while frontier is not empty:        </a:t>
            </a:r>
          </a:p>
          <a:p>
            <a:pPr>
              <a:spcAft>
                <a:spcPts val="300"/>
              </a:spcAft>
            </a:pPr>
            <a:r>
              <a:rPr lang="en-US" sz="1250" dirty="0">
                <a:solidFill>
                  <a:srgbClr val="1E2761"/>
                </a:solidFill>
                <a:latin typeface="Consolas" pitchFamily="34" charset="0"/>
              </a:rPr>
              <a:t>	node ← </a:t>
            </a:r>
            <a:r>
              <a:rPr lang="en-US" sz="1250" dirty="0" err="1">
                <a:solidFill>
                  <a:srgbClr val="1E2761"/>
                </a:solidFill>
                <a:latin typeface="Consolas" pitchFamily="34" charset="0"/>
              </a:rPr>
              <a:t>frontier.dequeue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a:t>
            </a:r>
            <a:r>
              <a:rPr lang="en-US" sz="1250" dirty="0" err="1">
                <a:solidFill>
                  <a:srgbClr val="1E2761"/>
                </a:solidFill>
                <a:latin typeface="Consolas" pitchFamily="34" charset="0"/>
              </a:rPr>
              <a:t>explored.add</a:t>
            </a:r>
            <a:r>
              <a:rPr lang="en-US" sz="1250" dirty="0">
                <a:solidFill>
                  <a:srgbClr val="1E2761"/>
                </a:solidFill>
                <a:latin typeface="Consolas" pitchFamily="34" charset="0"/>
              </a:rPr>
              <a:t>(</a:t>
            </a:r>
            <a:r>
              <a:rPr lang="en-US" sz="1250" dirty="0" err="1">
                <a:solidFill>
                  <a:srgbClr val="1E2761"/>
                </a:solidFill>
                <a:latin typeface="Consolas" pitchFamily="34" charset="0"/>
              </a:rPr>
              <a:t>node.state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for action in ACTIONS(problem, </a:t>
            </a:r>
            <a:r>
              <a:rPr lang="en-US" sz="1250" dirty="0" err="1">
                <a:solidFill>
                  <a:srgbClr val="1E2761"/>
                </a:solidFill>
                <a:latin typeface="Consolas" pitchFamily="34" charset="0"/>
              </a:rPr>
              <a:t>node.state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child ← CHILD-NODE(problem, node, action)            </a:t>
            </a:r>
          </a:p>
          <a:p>
            <a:pPr>
              <a:spcAft>
                <a:spcPts val="300"/>
              </a:spcAft>
            </a:pPr>
            <a:r>
              <a:rPr lang="en-US" sz="1250" dirty="0">
                <a:solidFill>
                  <a:srgbClr val="1E2761"/>
                </a:solidFill>
                <a:latin typeface="Consolas" pitchFamily="34" charset="0"/>
              </a:rPr>
              <a:t>	    if </a:t>
            </a:r>
            <a:r>
              <a:rPr lang="en-US" sz="1250" dirty="0" err="1">
                <a:solidFill>
                  <a:srgbClr val="1E2761"/>
                </a:solidFill>
                <a:latin typeface="Consolas" pitchFamily="34" charset="0"/>
              </a:rPr>
              <a:t>child.state</a:t>
            </a:r>
            <a:r>
              <a:rPr lang="en-US" sz="1250" dirty="0">
                <a:solidFill>
                  <a:srgbClr val="1E2761"/>
                </a:solidFill>
                <a:latin typeface="Consolas" pitchFamily="34" charset="0"/>
              </a:rPr>
              <a:t> not in explored /</a:t>
            </a:r>
          </a:p>
          <a:p>
            <a:pPr>
              <a:spcAft>
                <a:spcPts val="300"/>
              </a:spcAft>
            </a:pPr>
            <a:r>
              <a:rPr lang="en-US" sz="1250" dirty="0">
                <a:solidFill>
                  <a:srgbClr val="1E2761"/>
                </a:solidFill>
                <a:latin typeface="Consolas" pitchFamily="34" charset="0"/>
              </a:rPr>
              <a:t>		   and </a:t>
            </a:r>
            <a:r>
              <a:rPr lang="en-US" sz="1250" dirty="0" err="1">
                <a:solidFill>
                  <a:srgbClr val="1E2761"/>
                </a:solidFill>
                <a:latin typeface="Consolas" pitchFamily="34" charset="0"/>
              </a:rPr>
              <a:t>child.state</a:t>
            </a:r>
            <a:r>
              <a:rPr lang="en-US" sz="1250" dirty="0">
                <a:solidFill>
                  <a:srgbClr val="1E2761"/>
                </a:solidFill>
                <a:latin typeface="Consolas" pitchFamily="34" charset="0"/>
              </a:rPr>
              <a:t> not in </a:t>
            </a:r>
            <a:r>
              <a:rPr lang="en-US" sz="1250" dirty="0" err="1">
                <a:solidFill>
                  <a:srgbClr val="1E2761"/>
                </a:solidFill>
                <a:latin typeface="Consolas" pitchFamily="34" charset="0"/>
              </a:rPr>
              <a:t>frontier_states</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if GOAL-TEST(</a:t>
            </a:r>
            <a:r>
              <a:rPr lang="en-US" sz="1250" dirty="0" err="1">
                <a:solidFill>
                  <a:srgbClr val="1E2761"/>
                </a:solidFill>
                <a:latin typeface="Consolas" pitchFamily="34" charset="0"/>
              </a:rPr>
              <a:t>child.state</a:t>
            </a:r>
            <a:r>
              <a:rPr lang="en-US" sz="1250" dirty="0">
                <a:solidFill>
                  <a:srgbClr val="1E2761"/>
                </a:solidFill>
                <a:latin typeface="Consolas" pitchFamily="34" charset="0"/>
              </a:rPr>
              <a:t>):</a:t>
            </a:r>
          </a:p>
          <a:p>
            <a:pPr>
              <a:spcAft>
                <a:spcPts val="300"/>
              </a:spcAft>
            </a:pPr>
            <a:r>
              <a:rPr lang="en-US" sz="1250" dirty="0">
                <a:solidFill>
                  <a:srgbClr val="1E2761"/>
                </a:solidFill>
                <a:latin typeface="Consolas" pitchFamily="34" charset="0"/>
              </a:rPr>
              <a:t>		return SOLUTION(child)                </a:t>
            </a:r>
          </a:p>
          <a:p>
            <a:pPr>
              <a:spcAft>
                <a:spcPts val="300"/>
              </a:spcAft>
            </a:pPr>
            <a:r>
              <a:rPr lang="en-US" sz="1250" dirty="0">
                <a:solidFill>
                  <a:srgbClr val="1E2761"/>
                </a:solidFill>
                <a:latin typeface="Consolas" pitchFamily="34" charset="0"/>
              </a:rPr>
              <a:t>	    </a:t>
            </a:r>
            <a:r>
              <a:rPr lang="en-US" sz="1250" dirty="0" err="1">
                <a:solidFill>
                  <a:srgbClr val="1E2761"/>
                </a:solidFill>
                <a:latin typeface="Consolas" pitchFamily="34" charset="0"/>
              </a:rPr>
              <a:t>frontier.enqueue</a:t>
            </a:r>
            <a:r>
              <a:rPr lang="en-US" sz="1250" dirty="0">
                <a:solidFill>
                  <a:srgbClr val="1E2761"/>
                </a:solidFill>
                <a:latin typeface="Consolas" pitchFamily="34" charset="0"/>
              </a:rPr>
              <a:t>(child)                	    </a:t>
            </a:r>
          </a:p>
          <a:p>
            <a:pPr>
              <a:spcAft>
                <a:spcPts val="300"/>
              </a:spcAft>
            </a:pPr>
            <a:r>
              <a:rPr lang="en-US" sz="1250" dirty="0">
                <a:solidFill>
                  <a:srgbClr val="1E2761"/>
                </a:solidFill>
                <a:latin typeface="Consolas" pitchFamily="34" charset="0"/>
              </a:rPr>
              <a:t>	    </a:t>
            </a:r>
            <a:r>
              <a:rPr lang="en-US" sz="1250" dirty="0" err="1">
                <a:solidFill>
                  <a:srgbClr val="1E2761"/>
                </a:solidFill>
                <a:latin typeface="Consolas" pitchFamily="34" charset="0"/>
              </a:rPr>
              <a:t>frontier_states.add</a:t>
            </a:r>
            <a:r>
              <a:rPr lang="en-US" sz="1250" dirty="0">
                <a:solidFill>
                  <a:srgbClr val="1E2761"/>
                </a:solidFill>
                <a:latin typeface="Consolas" pitchFamily="34" charset="0"/>
              </a:rPr>
              <a:t>(</a:t>
            </a:r>
            <a:r>
              <a:rPr lang="en-US" sz="1250" dirty="0" err="1">
                <a:solidFill>
                  <a:srgbClr val="1E2761"/>
                </a:solidFill>
                <a:latin typeface="Consolas" pitchFamily="34" charset="0"/>
              </a:rPr>
              <a:t>child.state</a:t>
            </a:r>
            <a:r>
              <a:rPr lang="en-US" sz="1250" dirty="0">
                <a:solidFill>
                  <a:srgbClr val="1E2761"/>
                </a:solidFill>
                <a:latin typeface="Consolas" pitchFamily="34" charset="0"/>
              </a:rPr>
              <a:t>)    </a:t>
            </a:r>
          </a:p>
          <a:p>
            <a:pPr>
              <a:spcAft>
                <a:spcPts val="300"/>
              </a:spcAft>
            </a:pPr>
            <a:r>
              <a:rPr lang="en-US" sz="1250" dirty="0">
                <a:solidFill>
                  <a:srgbClr val="1E2761"/>
                </a:solidFill>
                <a:latin typeface="Consolas" pitchFamily="34" charset="0"/>
              </a:rPr>
              <a:t>    return failure</a:t>
            </a:r>
          </a:p>
        </p:txBody>
      </p:sp>
      <p:sp>
        <p:nvSpPr>
          <p:cNvPr id="8" name="Text 6"/>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10</a:t>
            </a:r>
            <a:endParaRPr lang="en-US" sz="1000" dirty="0"/>
          </a:p>
        </p:txBody>
      </p:sp>
      <p:pic>
        <p:nvPicPr>
          <p:cNvPr id="10" name="Picture 9">
            <a:extLst>
              <a:ext uri="{FF2B5EF4-FFF2-40B4-BE49-F238E27FC236}">
                <a16:creationId xmlns:a16="http://schemas.microsoft.com/office/drawing/2014/main" id="{D9AB931B-8474-3CE7-C0DD-C443380EFE33}"/>
              </a:ext>
            </a:extLst>
          </p:cNvPr>
          <p:cNvPicPr>
            <a:picLocks noChangeAspect="1"/>
          </p:cNvPicPr>
          <p:nvPr/>
        </p:nvPicPr>
        <p:blipFill>
          <a:blip r:embed="rId3"/>
          <a:stretch>
            <a:fillRect/>
          </a:stretch>
        </p:blipFill>
        <p:spPr>
          <a:xfrm>
            <a:off x="287159" y="2955589"/>
            <a:ext cx="5890522" cy="34909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UNINFORMED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Meet the Family: DFS, BFS</a:t>
            </a:r>
            <a:endParaRPr lang="en-US" sz="2600" dirty="0"/>
          </a:p>
        </p:txBody>
      </p:sp>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pic>
        <p:nvPicPr>
          <p:cNvPr id="9" name="Picture 2" descr="computer-science-algorithms-Breadth-first-Nodes-14993-92-54-Algorithm-FIFO-While-isn-empty-Pop-off-already-skip-Otherwise-pai">
            <a:extLst>
              <a:ext uri="{FF2B5EF4-FFF2-40B4-BE49-F238E27FC236}">
                <a16:creationId xmlns:a16="http://schemas.microsoft.com/office/drawing/2014/main" id="{40D9744B-718B-EE2F-239C-1CAFA0460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5675" y="1802905"/>
            <a:ext cx="3432409" cy="34324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omputer-science-algorithms-Depth-visited-10765-66-45-Same-BFS-LIFO-instead-queue-neighbors-sorted-by-so-as-insert-worst-heur">
            <a:extLst>
              <a:ext uri="{FF2B5EF4-FFF2-40B4-BE49-F238E27FC236}">
                <a16:creationId xmlns:a16="http://schemas.microsoft.com/office/drawing/2014/main" id="{3FE96F65-E30B-D232-E128-1E3D57E426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075" y="1802905"/>
            <a:ext cx="3432409" cy="3432409"/>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2">
            <a:extLst>
              <a:ext uri="{FF2B5EF4-FFF2-40B4-BE49-F238E27FC236}">
                <a16:creationId xmlns:a16="http://schemas.microsoft.com/office/drawing/2014/main" id="{3EA6B383-DA54-2019-2113-2F4515FDCCD2}"/>
              </a:ext>
            </a:extLst>
          </p:cNvPr>
          <p:cNvSpPr txBox="1">
            <a:spLocks/>
          </p:cNvSpPr>
          <p:nvPr/>
        </p:nvSpPr>
        <p:spPr>
          <a:xfrm>
            <a:off x="2720798" y="1370851"/>
            <a:ext cx="714962" cy="4036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lvl="0"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ea typeface="Google Sans Text"/>
              </a:rPr>
              <a:t>DFS</a:t>
            </a:r>
            <a:endParaRPr lang="en-US" altLang="en-US" sz="1800" i="1" dirty="0">
              <a:solidFill>
                <a:schemeClr val="tx1"/>
              </a:solidFill>
              <a:latin typeface="Arial" panose="020B0604020202020204" pitchFamily="34" charset="0"/>
              <a:ea typeface="Google Sans Text"/>
            </a:endParaRPr>
          </a:p>
        </p:txBody>
      </p:sp>
      <p:sp>
        <p:nvSpPr>
          <p:cNvPr id="15" name="Text Placeholder 2">
            <a:extLst>
              <a:ext uri="{FF2B5EF4-FFF2-40B4-BE49-F238E27FC236}">
                <a16:creationId xmlns:a16="http://schemas.microsoft.com/office/drawing/2014/main" id="{69A90EA2-4AB5-4970-3EB2-EC816C911DC2}"/>
              </a:ext>
            </a:extLst>
          </p:cNvPr>
          <p:cNvSpPr txBox="1">
            <a:spLocks/>
          </p:cNvSpPr>
          <p:nvPr/>
        </p:nvSpPr>
        <p:spPr>
          <a:xfrm>
            <a:off x="8756240" y="1370850"/>
            <a:ext cx="714962" cy="4036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lvl="0"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ea typeface="Google Sans Text"/>
              </a:rPr>
              <a:t>BFS</a:t>
            </a:r>
            <a:endParaRPr lang="en-US" altLang="en-US" sz="1800" i="1" dirty="0">
              <a:solidFill>
                <a:schemeClr val="tx1"/>
              </a:solidFill>
              <a:latin typeface="Arial" panose="020B0604020202020204" pitchFamily="34" charset="0"/>
              <a:ea typeface="Google Sans Text"/>
            </a:endParaRPr>
          </a:p>
        </p:txBody>
      </p:sp>
      <p:sp>
        <p:nvSpPr>
          <p:cNvPr id="17" name="TextBox 16">
            <a:extLst>
              <a:ext uri="{FF2B5EF4-FFF2-40B4-BE49-F238E27FC236}">
                <a16:creationId xmlns:a16="http://schemas.microsoft.com/office/drawing/2014/main" id="{D2AE037E-F840-BC8B-F447-2E3B57F95154}"/>
              </a:ext>
            </a:extLst>
          </p:cNvPr>
          <p:cNvSpPr txBox="1"/>
          <p:nvPr/>
        </p:nvSpPr>
        <p:spPr>
          <a:xfrm>
            <a:off x="10125075" y="6002995"/>
            <a:ext cx="1401900" cy="246221"/>
          </a:xfrm>
          <a:prstGeom prst="rect">
            <a:avLst/>
          </a:prstGeom>
          <a:noFill/>
        </p:spPr>
        <p:txBody>
          <a:bodyPr wrap="square">
            <a:spAutoFit/>
          </a:bodyPr>
          <a:lstStyle/>
          <a:p>
            <a:r>
              <a:rPr lang="en-US" sz="1000" dirty="0">
                <a:latin typeface="Times New Roman" panose="02020603050405020304" pitchFamily="18" charset="0"/>
                <a:cs typeface="Times New Roman" panose="02020603050405020304" pitchFamily="18" charset="0"/>
              </a:rPr>
              <a:t>Source: </a:t>
            </a:r>
            <a:r>
              <a:rPr lang="en-US" sz="1000" dirty="0" err="1">
                <a:latin typeface="Times New Roman" panose="02020603050405020304" pitchFamily="18" charset="0"/>
                <a:cs typeface="Times New Roman" panose="02020603050405020304" pitchFamily="18" charset="0"/>
              </a:rPr>
              <a:t>Imgur</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UNINFORMED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r>
              <a:rPr lang="en-US" sz="2700" b="1" dirty="0">
                <a:solidFill>
                  <a:srgbClr val="FFFFFF"/>
                </a:solidFill>
                <a:latin typeface="Cambria" pitchFamily="34" charset="0"/>
                <a:ea typeface="Cambria" pitchFamily="34" charset="-122"/>
              </a:rPr>
              <a:t>Uniform-Cost Search (UCS)</a:t>
            </a:r>
          </a:p>
        </p:txBody>
      </p:sp>
      <p:sp>
        <p:nvSpPr>
          <p:cNvPr id="52" name="Text 50"/>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53" name="Text 51"/>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pic>
        <p:nvPicPr>
          <p:cNvPr id="55" name="Picture 2">
            <a:extLst>
              <a:ext uri="{FF2B5EF4-FFF2-40B4-BE49-F238E27FC236}">
                <a16:creationId xmlns:a16="http://schemas.microsoft.com/office/drawing/2014/main" id="{FF0F4B72-FB31-4E26-2FDE-B232AD69A2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7038" y="1706658"/>
            <a:ext cx="4391025" cy="2686050"/>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B2B0CCEE-7B4E-8A2A-6EB9-3A55341A8BD5}"/>
              </a:ext>
            </a:extLst>
          </p:cNvPr>
          <p:cNvSpPr txBox="1"/>
          <p:nvPr/>
        </p:nvSpPr>
        <p:spPr>
          <a:xfrm>
            <a:off x="10125075" y="6002995"/>
            <a:ext cx="1401900" cy="246221"/>
          </a:xfrm>
          <a:prstGeom prst="rect">
            <a:avLst/>
          </a:prstGeom>
          <a:noFill/>
        </p:spPr>
        <p:txBody>
          <a:bodyPr wrap="square">
            <a:spAutoFit/>
          </a:bodyPr>
          <a:lstStyle/>
          <a:p>
            <a:r>
              <a:rPr lang="en-US" sz="1000" dirty="0">
                <a:latin typeface="Times New Roman" panose="02020603050405020304" pitchFamily="18" charset="0"/>
                <a:cs typeface="Times New Roman" panose="02020603050405020304" pitchFamily="18" charset="0"/>
              </a:rPr>
              <a:t>Source: M</a:t>
            </a:r>
            <a:r>
              <a:rPr lang="en-US" altLang="zh-CN" sz="1000" dirty="0">
                <a:latin typeface="Times New Roman" panose="02020603050405020304" pitchFamily="18" charset="0"/>
                <a:cs typeface="Times New Roman" panose="02020603050405020304" pitchFamily="18" charset="0"/>
              </a:rPr>
              <a:t>edium</a:t>
            </a:r>
            <a:endParaRPr lang="en-US" sz="1000" dirty="0">
              <a:latin typeface="Times New Roman" panose="02020603050405020304" pitchFamily="18" charset="0"/>
              <a:cs typeface="Times New Roman" panose="02020603050405020304" pitchFamily="18" charset="0"/>
            </a:endParaRPr>
          </a:p>
        </p:txBody>
      </p:sp>
      <p:sp>
        <p:nvSpPr>
          <p:cNvPr id="59" name="Text Placeholder 2">
            <a:extLst>
              <a:ext uri="{FF2B5EF4-FFF2-40B4-BE49-F238E27FC236}">
                <a16:creationId xmlns:a16="http://schemas.microsoft.com/office/drawing/2014/main" id="{E087C7CA-00EC-F48E-2B1B-174C3FCF128B}"/>
              </a:ext>
            </a:extLst>
          </p:cNvPr>
          <p:cNvSpPr txBox="1">
            <a:spLocks/>
          </p:cNvSpPr>
          <p:nvPr/>
        </p:nvSpPr>
        <p:spPr>
          <a:xfrm>
            <a:off x="818565" y="1706658"/>
            <a:ext cx="5753101" cy="295106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lvl="0" eaLnBrk="0" fontAlgn="base" hangingPunct="0">
              <a:lnSpc>
                <a:spcPct val="100000"/>
              </a:lnSpc>
              <a:spcBef>
                <a:spcPct val="0"/>
              </a:spcBef>
              <a:spcAft>
                <a:spcPct val="0"/>
              </a:spcAft>
            </a:pPr>
            <a:r>
              <a:rPr lang="en-US" altLang="en-US" sz="2000" b="1" dirty="0">
                <a:solidFill>
                  <a:schemeClr val="tx1"/>
                </a:solidFill>
                <a:latin typeface="Arial" panose="020B0604020202020204" pitchFamily="34" charset="0"/>
              </a:rPr>
              <a:t>Goal:</a:t>
            </a:r>
          </a:p>
          <a:p>
            <a:pPr eaLnBrk="0" fontAlgn="base" hangingPunct="0">
              <a:lnSpc>
                <a:spcPct val="100000"/>
              </a:lnSpc>
              <a:spcBef>
                <a:spcPct val="0"/>
              </a:spcBef>
              <a:spcAft>
                <a:spcPct val="0"/>
              </a:spcAft>
              <a:buFontTx/>
              <a:buChar char="•"/>
            </a:pPr>
            <a:r>
              <a:rPr lang="en-US" altLang="en-US" sz="2000" dirty="0">
                <a:solidFill>
                  <a:schemeClr val="tx1"/>
                </a:solidFill>
                <a:latin typeface="Arial" panose="020B0604020202020204" pitchFamily="34" charset="0"/>
              </a:rPr>
              <a:t> Find a path with minimal total cost</a:t>
            </a:r>
          </a:p>
          <a:p>
            <a:pPr lvl="0" eaLnBrk="0" fontAlgn="base" hangingPunct="0">
              <a:lnSpc>
                <a:spcPct val="100000"/>
              </a:lnSpc>
              <a:spcBef>
                <a:spcPct val="0"/>
              </a:spcBef>
              <a:spcAft>
                <a:spcPct val="0"/>
              </a:spcAft>
            </a:pPr>
            <a:endParaRPr lang="en-US" altLang="en-US" sz="2000" b="1" dirty="0">
              <a:solidFill>
                <a:schemeClr val="tx1"/>
              </a:solidFill>
              <a:latin typeface="Arial" panose="020B0604020202020204" pitchFamily="34" charset="0"/>
            </a:endParaRPr>
          </a:p>
          <a:p>
            <a:pPr lvl="0" eaLnBrk="0" fontAlgn="base" hangingPunct="0">
              <a:lnSpc>
                <a:spcPct val="100000"/>
              </a:lnSpc>
              <a:spcBef>
                <a:spcPct val="0"/>
              </a:spcBef>
              <a:spcAft>
                <a:spcPct val="0"/>
              </a:spcAft>
            </a:pPr>
            <a:r>
              <a:rPr lang="en-US" altLang="en-US" sz="2000" b="1" dirty="0">
                <a:solidFill>
                  <a:schemeClr val="tx1"/>
                </a:solidFill>
                <a:latin typeface="Arial" panose="020B0604020202020204" pitchFamily="34" charset="0"/>
              </a:rPr>
              <a:t>S</a:t>
            </a:r>
            <a:r>
              <a:rPr lang="en-US" altLang="zh-CN" sz="2000" b="1" dirty="0">
                <a:solidFill>
                  <a:schemeClr val="tx1"/>
                </a:solidFill>
                <a:latin typeface="Arial" panose="020B0604020202020204" pitchFamily="34" charset="0"/>
              </a:rPr>
              <a:t>trategy:</a:t>
            </a:r>
            <a:r>
              <a:rPr lang="en-US" altLang="en-US" sz="2000" b="1" dirty="0">
                <a:solidFill>
                  <a:schemeClr val="tx1"/>
                </a:solidFill>
                <a:latin typeface="Arial" panose="020B0604020202020204" pitchFamily="34" charset="0"/>
              </a:rPr>
              <a:t> </a:t>
            </a:r>
          </a:p>
          <a:p>
            <a:pPr lvl="0" eaLnBrk="0" fontAlgn="base" hangingPunct="0">
              <a:lnSpc>
                <a:spcPct val="100000"/>
              </a:lnSpc>
              <a:spcBef>
                <a:spcPct val="0"/>
              </a:spcBef>
              <a:spcAft>
                <a:spcPct val="0"/>
              </a:spcAft>
              <a:buFontTx/>
              <a:buChar char="•"/>
            </a:pPr>
            <a:r>
              <a:rPr lang="en-US" altLang="en-US" sz="2000" dirty="0">
                <a:solidFill>
                  <a:schemeClr val="tx1"/>
                </a:solidFill>
                <a:latin typeface="Arial" panose="020B0604020202020204" pitchFamily="34" charset="0"/>
              </a:rPr>
              <a:t> Expand the node with the lowest path cost g(n)</a:t>
            </a:r>
          </a:p>
          <a:p>
            <a:pPr lvl="0" eaLnBrk="0" fontAlgn="base" hangingPunct="0">
              <a:lnSpc>
                <a:spcPct val="100000"/>
              </a:lnSpc>
              <a:spcBef>
                <a:spcPct val="0"/>
              </a:spcBef>
              <a:spcAft>
                <a:spcPct val="0"/>
              </a:spcAft>
              <a:buFontTx/>
              <a:buChar char="•"/>
            </a:pPr>
            <a:endParaRPr lang="en-US" altLang="en-US" sz="2000" dirty="0">
              <a:solidFill>
                <a:schemeClr val="tx1"/>
              </a:solidFill>
              <a:latin typeface="Arial" panose="020B0604020202020204" pitchFamily="34" charset="0"/>
            </a:endParaRPr>
          </a:p>
          <a:p>
            <a:pPr eaLnBrk="0" fontAlgn="base" hangingPunct="0">
              <a:lnSpc>
                <a:spcPct val="100000"/>
              </a:lnSpc>
              <a:spcBef>
                <a:spcPct val="0"/>
              </a:spcBef>
              <a:spcAft>
                <a:spcPct val="0"/>
              </a:spcAft>
            </a:pPr>
            <a:r>
              <a:rPr lang="en-US" altLang="en-US" sz="2100" b="1" dirty="0">
                <a:solidFill>
                  <a:schemeClr val="tx1"/>
                </a:solidFill>
                <a:latin typeface="Arial" panose="020B0604020202020204" pitchFamily="34" charset="0"/>
              </a:rPr>
              <a:t>Implementation:</a:t>
            </a:r>
          </a:p>
          <a:p>
            <a:pPr lvl="0" eaLnBrk="0" fontAlgn="base" hangingPunct="0">
              <a:lnSpc>
                <a:spcPct val="100000"/>
              </a:lnSpc>
              <a:spcBef>
                <a:spcPct val="0"/>
              </a:spcBef>
              <a:spcAft>
                <a:spcPct val="0"/>
              </a:spcAft>
              <a:buFontTx/>
              <a:buChar char="•"/>
            </a:pPr>
            <a:r>
              <a:rPr lang="en-US" altLang="en-US" sz="2000" dirty="0">
                <a:solidFill>
                  <a:schemeClr val="tx1"/>
                </a:solidFill>
                <a:latin typeface="Arial" panose="020B0604020202020204" pitchFamily="34" charset="0"/>
              </a:rPr>
              <a:t> The frontier is stored in a min heap (or priority heap), ordered by cumulative cost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141B47"/>
          </a:solidFill>
          <a:ln/>
        </p:spPr>
        <p:txBody>
          <a:bodyPr/>
          <a:lstStyle/>
          <a:p>
            <a:endParaRPr lang="en-US"/>
          </a:p>
        </p:txBody>
      </p:sp>
      <p:sp>
        <p:nvSpPr>
          <p:cNvPr id="3" name="Text 1"/>
          <p:cNvSpPr/>
          <p:nvPr/>
        </p:nvSpPr>
        <p:spPr>
          <a:xfrm>
            <a:off x="822960" y="2743200"/>
            <a:ext cx="7315200" cy="365760"/>
          </a:xfrm>
          <a:prstGeom prst="rect">
            <a:avLst/>
          </a:prstGeom>
          <a:noFill/>
          <a:ln/>
        </p:spPr>
        <p:txBody>
          <a:bodyPr wrap="square" lIns="0" tIns="0" rIns="0" bIns="0" rtlCol="0" anchor="ctr"/>
          <a:lstStyle/>
          <a:p>
            <a:pPr marL="0" indent="0">
              <a:buNone/>
            </a:pPr>
            <a:r>
              <a:rPr lang="en-US" sz="1400" b="1" kern="0" spc="200" dirty="0">
                <a:solidFill>
                  <a:srgbClr val="C9A25D"/>
                </a:solidFill>
                <a:latin typeface="Calibri" pitchFamily="34" charset="0"/>
                <a:ea typeface="Calibri" pitchFamily="34" charset="-122"/>
                <a:cs typeface="Calibri" pitchFamily="34" charset="-120"/>
              </a:rPr>
              <a:t>PART 2</a:t>
            </a:r>
            <a:endParaRPr lang="en-US" sz="1400" dirty="0"/>
          </a:p>
        </p:txBody>
      </p:sp>
      <p:sp>
        <p:nvSpPr>
          <p:cNvPr id="4" name="Text 2"/>
          <p:cNvSpPr/>
          <p:nvPr/>
        </p:nvSpPr>
        <p:spPr>
          <a:xfrm>
            <a:off x="777240" y="3108960"/>
            <a:ext cx="105156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Informed Search</a:t>
            </a:r>
            <a:endParaRPr lang="en-US" sz="4000" dirty="0"/>
          </a:p>
        </p:txBody>
      </p:sp>
      <p:sp>
        <p:nvSpPr>
          <p:cNvPr id="5" name="Text 3"/>
          <p:cNvSpPr/>
          <p:nvPr/>
        </p:nvSpPr>
        <p:spPr>
          <a:xfrm>
            <a:off x="822960" y="411480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Adding a heuristic function h(n): an estimate of cost from n to the goal</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Heuristic Functions: Straight-Line Distance</a:t>
            </a:r>
            <a:endParaRPr lang="en-US" sz="2600" dirty="0"/>
          </a:p>
        </p:txBody>
      </p:sp>
      <p:pic>
        <p:nvPicPr>
          <p:cNvPr id="5" name="Image 0" descr="/home/claude/assets2/sld_romania.png"/>
          <p:cNvPicPr>
            <a:picLocks noChangeAspect="1"/>
          </p:cNvPicPr>
          <p:nvPr/>
        </p:nvPicPr>
        <p:blipFill>
          <a:blip r:embed="rId3"/>
          <a:srcRect/>
          <a:stretch/>
        </p:blipFill>
        <p:spPr>
          <a:xfrm>
            <a:off x="822960" y="1371600"/>
            <a:ext cx="10515600" cy="484632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dirty="0"/>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r>
              <a:rPr lang="en-US" sz="2800" b="1" dirty="0">
                <a:solidFill>
                  <a:srgbClr val="FFFFFF"/>
                </a:solidFill>
                <a:latin typeface="Cambria" pitchFamily="34" charset="0"/>
                <a:ea typeface="Cambria" pitchFamily="34" charset="-122"/>
                <a:cs typeface="Cambria" pitchFamily="34" charset="-120"/>
              </a:rPr>
              <a:t>Best-First Search</a:t>
            </a:r>
            <a:endParaRPr lang="en-US" sz="280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14</a:t>
            </a:r>
            <a:endParaRPr lang="en-US" sz="1000" dirty="0"/>
          </a:p>
        </p:txBody>
      </p:sp>
      <p:graphicFrame>
        <p:nvGraphicFramePr>
          <p:cNvPr id="8" name="Table 7">
            <a:extLst>
              <a:ext uri="{FF2B5EF4-FFF2-40B4-BE49-F238E27FC236}">
                <a16:creationId xmlns:a16="http://schemas.microsoft.com/office/drawing/2014/main" id="{1D364F56-FE7D-AE80-AC1E-1A91B12413C3}"/>
              </a:ext>
            </a:extLst>
          </p:cNvPr>
          <p:cNvGraphicFramePr>
            <a:graphicFrameLocks noGrp="1"/>
          </p:cNvGraphicFramePr>
          <p:nvPr>
            <p:extLst>
              <p:ext uri="{D42A27DB-BD31-4B8C-83A1-F6EECF244321}">
                <p14:modId xmlns:p14="http://schemas.microsoft.com/office/powerpoint/2010/main" val="2514227339"/>
              </p:ext>
            </p:extLst>
          </p:nvPr>
        </p:nvGraphicFramePr>
        <p:xfrm>
          <a:off x="838200" y="2812574"/>
          <a:ext cx="10515600" cy="23774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650547175"/>
                    </a:ext>
                  </a:extLst>
                </a:gridCol>
                <a:gridCol w="3505200">
                  <a:extLst>
                    <a:ext uri="{9D8B030D-6E8A-4147-A177-3AD203B41FA5}">
                      <a16:colId xmlns:a16="http://schemas.microsoft.com/office/drawing/2014/main" val="552780103"/>
                    </a:ext>
                  </a:extLst>
                </a:gridCol>
                <a:gridCol w="3505200">
                  <a:extLst>
                    <a:ext uri="{9D8B030D-6E8A-4147-A177-3AD203B41FA5}">
                      <a16:colId xmlns:a16="http://schemas.microsoft.com/office/drawing/2014/main" val="3819714590"/>
                    </a:ext>
                  </a:extLst>
                </a:gridCol>
              </a:tblGrid>
              <a:tr h="0">
                <a:tc>
                  <a:txBody>
                    <a:bodyPr/>
                    <a:lstStyle/>
                    <a:p>
                      <a:pPr>
                        <a:buNone/>
                      </a:pPr>
                      <a:r>
                        <a:rPr lang="en-US" dirty="0"/>
                        <a:t>Algorithm</a:t>
                      </a:r>
                    </a:p>
                  </a:txBody>
                  <a:tcPr anchor="ctr"/>
                </a:tc>
                <a:tc>
                  <a:txBody>
                    <a:bodyPr/>
                    <a:lstStyle/>
                    <a:p>
                      <a:pPr>
                        <a:buNone/>
                      </a:pPr>
                      <a:r>
                        <a:rPr lang="en-US" dirty="0"/>
                        <a:t>Priority f(n)</a:t>
                      </a:r>
                    </a:p>
                  </a:txBody>
                  <a:tcPr anchor="ctr"/>
                </a:tc>
                <a:tc>
                  <a:txBody>
                    <a:bodyPr/>
                    <a:lstStyle/>
                    <a:p>
                      <a:pPr>
                        <a:buNone/>
                      </a:pPr>
                      <a:r>
                        <a:rPr lang="en-US" dirty="0"/>
                        <a:t>What it prefers</a:t>
                      </a:r>
                    </a:p>
                  </a:txBody>
                  <a:tcPr anchor="ctr"/>
                </a:tc>
                <a:extLst>
                  <a:ext uri="{0D108BD9-81ED-4DB2-BD59-A6C34878D82A}">
                    <a16:rowId xmlns:a16="http://schemas.microsoft.com/office/drawing/2014/main" val="3706510629"/>
                  </a:ext>
                </a:extLst>
              </a:tr>
              <a:tr h="0">
                <a:tc>
                  <a:txBody>
                    <a:bodyPr/>
                    <a:lstStyle/>
                    <a:p>
                      <a:pPr>
                        <a:buNone/>
                      </a:pPr>
                      <a:r>
                        <a:rPr lang="en-US" dirty="0"/>
                        <a:t>Uniform-Cost Search (UCS)</a:t>
                      </a:r>
                    </a:p>
                  </a:txBody>
                  <a:tcPr anchor="ctr"/>
                </a:tc>
                <a:tc>
                  <a:txBody>
                    <a:bodyPr/>
                    <a:lstStyle/>
                    <a:p>
                      <a:pPr>
                        <a:buNone/>
                      </a:pPr>
                      <a:r>
                        <a:rPr lang="en-US" dirty="0"/>
                        <a:t>f(n) = g(n)</a:t>
                      </a:r>
                    </a:p>
                  </a:txBody>
                  <a:tcPr anchor="ctr"/>
                </a:tc>
                <a:tc>
                  <a:txBody>
                    <a:bodyPr/>
                    <a:lstStyle/>
                    <a:p>
                      <a:pPr>
                        <a:buNone/>
                      </a:pPr>
                      <a:r>
                        <a:rPr lang="en-US"/>
                        <a:t>cheapest path from start</a:t>
                      </a:r>
                    </a:p>
                  </a:txBody>
                  <a:tcPr anchor="ctr"/>
                </a:tc>
                <a:extLst>
                  <a:ext uri="{0D108BD9-81ED-4DB2-BD59-A6C34878D82A}">
                    <a16:rowId xmlns:a16="http://schemas.microsoft.com/office/drawing/2014/main" val="2462223986"/>
                  </a:ext>
                </a:extLst>
              </a:tr>
              <a:tr h="0">
                <a:tc>
                  <a:txBody>
                    <a:bodyPr/>
                    <a:lstStyle/>
                    <a:p>
                      <a:pPr>
                        <a:buNone/>
                      </a:pPr>
                      <a:r>
                        <a:rPr lang="en-US"/>
                        <a:t>Greedy Best-First Search</a:t>
                      </a:r>
                    </a:p>
                  </a:txBody>
                  <a:tcPr anchor="ctr"/>
                </a:tc>
                <a:tc>
                  <a:txBody>
                    <a:bodyPr/>
                    <a:lstStyle/>
                    <a:p>
                      <a:pPr>
                        <a:buNone/>
                      </a:pPr>
                      <a:r>
                        <a:rPr lang="en-US" dirty="0"/>
                        <a:t>f(n) = h(n)</a:t>
                      </a:r>
                    </a:p>
                  </a:txBody>
                  <a:tcPr anchor="ctr"/>
                </a:tc>
                <a:tc>
                  <a:txBody>
                    <a:bodyPr/>
                    <a:lstStyle/>
                    <a:p>
                      <a:pPr>
                        <a:buNone/>
                      </a:pPr>
                      <a:r>
                        <a:rPr lang="en-US"/>
                        <a:t>apparently closest to goal</a:t>
                      </a:r>
                    </a:p>
                  </a:txBody>
                  <a:tcPr anchor="ctr"/>
                </a:tc>
                <a:extLst>
                  <a:ext uri="{0D108BD9-81ED-4DB2-BD59-A6C34878D82A}">
                    <a16:rowId xmlns:a16="http://schemas.microsoft.com/office/drawing/2014/main" val="3698465134"/>
                  </a:ext>
                </a:extLst>
              </a:tr>
              <a:tr h="0">
                <a:tc>
                  <a:txBody>
                    <a:bodyPr/>
                    <a:lstStyle/>
                    <a:p>
                      <a:pPr>
                        <a:buNone/>
                      </a:pPr>
                      <a:r>
                        <a:rPr lang="en-US"/>
                        <a:t>A*</a:t>
                      </a:r>
                    </a:p>
                  </a:txBody>
                  <a:tcPr anchor="ctr"/>
                </a:tc>
                <a:tc>
                  <a:txBody>
                    <a:bodyPr/>
                    <a:lstStyle/>
                    <a:p>
                      <a:pPr>
                        <a:buNone/>
                      </a:pPr>
                      <a:r>
                        <a:rPr lang="en-US" dirty="0"/>
                        <a:t>f(n) = g(n)+h(n)</a:t>
                      </a:r>
                    </a:p>
                  </a:txBody>
                  <a:tcPr anchor="ctr"/>
                </a:tc>
                <a:tc>
                  <a:txBody>
                    <a:bodyPr/>
                    <a:lstStyle/>
                    <a:p>
                      <a:pPr>
                        <a:buNone/>
                      </a:pPr>
                      <a:r>
                        <a:rPr lang="en-US"/>
                        <a:t>best combination of cost-so-far + estimated remaining cost</a:t>
                      </a:r>
                    </a:p>
                  </a:txBody>
                  <a:tcPr anchor="ctr"/>
                </a:tc>
                <a:extLst>
                  <a:ext uri="{0D108BD9-81ED-4DB2-BD59-A6C34878D82A}">
                    <a16:rowId xmlns:a16="http://schemas.microsoft.com/office/drawing/2014/main" val="3662401762"/>
                  </a:ext>
                </a:extLst>
              </a:tr>
              <a:tr h="0">
                <a:tc>
                  <a:txBody>
                    <a:bodyPr/>
                    <a:lstStyle/>
                    <a:p>
                      <a:pPr>
                        <a:buNone/>
                      </a:pPr>
                      <a:r>
                        <a:rPr lang="en-US" dirty="0"/>
                        <a:t>Best-First Search</a:t>
                      </a:r>
                    </a:p>
                  </a:txBody>
                  <a:tcPr anchor="ctr"/>
                </a:tc>
                <a:tc>
                  <a:txBody>
                    <a:bodyPr/>
                    <a:lstStyle/>
                    <a:p>
                      <a:pPr>
                        <a:buNone/>
                      </a:pPr>
                      <a:r>
                        <a:rPr lang="en-US"/>
                        <a:t>general framework</a:t>
                      </a:r>
                    </a:p>
                  </a:txBody>
                  <a:tcPr anchor="ctr"/>
                </a:tc>
                <a:tc>
                  <a:txBody>
                    <a:bodyPr/>
                    <a:lstStyle/>
                    <a:p>
                      <a:pPr>
                        <a:buNone/>
                      </a:pPr>
                      <a:r>
                        <a:rPr lang="en-US" dirty="0"/>
                        <a:t>expand the node with smallest evaluation function</a:t>
                      </a:r>
                    </a:p>
                  </a:txBody>
                  <a:tcPr anchor="ctr"/>
                </a:tc>
                <a:extLst>
                  <a:ext uri="{0D108BD9-81ED-4DB2-BD59-A6C34878D82A}">
                    <a16:rowId xmlns:a16="http://schemas.microsoft.com/office/drawing/2014/main" val="374777474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Greedy Best-First Search: Romania Map</a:t>
            </a:r>
            <a:endParaRPr lang="en-US" sz="2600" dirty="0"/>
          </a:p>
        </p:txBody>
      </p:sp>
      <p:pic>
        <p:nvPicPr>
          <p:cNvPr id="5" name="Image 0" descr="/home/claude/assets2/greedy_romania.png"/>
          <p:cNvPicPr>
            <a:picLocks noChangeAspect="1"/>
          </p:cNvPicPr>
          <p:nvPr/>
        </p:nvPicPr>
        <p:blipFill>
          <a:blip r:embed="rId3"/>
          <a:srcRect/>
          <a:stretch/>
        </p:blipFill>
        <p:spPr>
          <a:xfrm>
            <a:off x="822960" y="1371600"/>
            <a:ext cx="10515600" cy="484632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INFORMED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 Search: Romania Map</a:t>
            </a:r>
            <a:endParaRPr lang="en-US" sz="2600" dirty="0"/>
          </a:p>
        </p:txBody>
      </p:sp>
      <p:pic>
        <p:nvPicPr>
          <p:cNvPr id="5" name="Image 0" descr="/home/claude/assets2/astar_romania.png"/>
          <p:cNvPicPr>
            <a:picLocks noChangeAspect="1"/>
          </p:cNvPicPr>
          <p:nvPr/>
        </p:nvPicPr>
        <p:blipFill>
          <a:blip r:embed="rId3"/>
          <a:srcRect/>
          <a:stretch/>
        </p:blipFill>
        <p:spPr>
          <a:xfrm>
            <a:off x="822960" y="1371600"/>
            <a:ext cx="10515600" cy="484632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141B47"/>
          </a:solidFill>
          <a:ln/>
        </p:spPr>
        <p:txBody>
          <a:bodyPr/>
          <a:lstStyle/>
          <a:p>
            <a:endParaRPr lang="en-US"/>
          </a:p>
        </p:txBody>
      </p:sp>
      <p:sp>
        <p:nvSpPr>
          <p:cNvPr id="3" name="Text 1"/>
          <p:cNvSpPr/>
          <p:nvPr/>
        </p:nvSpPr>
        <p:spPr>
          <a:xfrm>
            <a:off x="822960" y="2743200"/>
            <a:ext cx="7315200" cy="365760"/>
          </a:xfrm>
          <a:prstGeom prst="rect">
            <a:avLst/>
          </a:prstGeom>
          <a:noFill/>
          <a:ln/>
        </p:spPr>
        <p:txBody>
          <a:bodyPr wrap="square" lIns="0" tIns="0" rIns="0" bIns="0" rtlCol="0" anchor="ctr"/>
          <a:lstStyle/>
          <a:p>
            <a:pPr marL="0" indent="0">
              <a:buNone/>
            </a:pPr>
            <a:r>
              <a:rPr lang="en-US" sz="1400" b="1" kern="0" spc="200" dirty="0">
                <a:solidFill>
                  <a:srgbClr val="C9A25D"/>
                </a:solidFill>
                <a:latin typeface="Calibri" pitchFamily="34" charset="0"/>
                <a:ea typeface="Calibri" pitchFamily="34" charset="-122"/>
                <a:cs typeface="Calibri" pitchFamily="34" charset="-120"/>
              </a:rPr>
              <a:t>PART 3</a:t>
            </a:r>
            <a:endParaRPr lang="en-US" sz="1400" dirty="0"/>
          </a:p>
        </p:txBody>
      </p:sp>
      <p:sp>
        <p:nvSpPr>
          <p:cNvPr id="4" name="Text 2"/>
          <p:cNvSpPr/>
          <p:nvPr/>
        </p:nvSpPr>
        <p:spPr>
          <a:xfrm>
            <a:off x="777240" y="3108960"/>
            <a:ext cx="105156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Local Search &amp; Optimization</a:t>
            </a:r>
            <a:endParaRPr lang="en-US" sz="4000" dirty="0"/>
          </a:p>
        </p:txBody>
      </p:sp>
      <p:sp>
        <p:nvSpPr>
          <p:cNvPr id="5" name="Text 3"/>
          <p:cNvSpPr/>
          <p:nvPr/>
        </p:nvSpPr>
        <p:spPr>
          <a:xfrm>
            <a:off x="822960" y="411480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Trading completeness and optimality for constant memory and scalability</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State Space as a Landscape</a:t>
            </a:r>
            <a:endParaRPr lang="en-US" sz="2600" dirty="0"/>
          </a:p>
        </p:txBody>
      </p:sp>
      <p:sp>
        <p:nvSpPr>
          <p:cNvPr id="5" name="Text 3"/>
          <p:cNvSpPr/>
          <p:nvPr/>
        </p:nvSpPr>
        <p:spPr>
          <a:xfrm>
            <a:off x="548640" y="1600200"/>
            <a:ext cx="5486400" cy="4754880"/>
          </a:xfrm>
          <a:prstGeom prst="rect">
            <a:avLst/>
          </a:prstGeom>
          <a:noFill/>
          <a:ln/>
        </p:spPr>
        <p:txBody>
          <a:bodyPr wrap="square" lIns="0" tIns="0" rIns="0" bIns="0" rtlCol="0" anchor="t"/>
          <a:lstStyle/>
          <a:p>
            <a:pPr marL="342900" indent="-342900">
              <a:spcAft>
                <a:spcPts val="1100"/>
              </a:spcAft>
              <a:buSzPct val="100000"/>
              <a:buChar char="•"/>
            </a:pPr>
            <a:r>
              <a:rPr lang="en-US" sz="1550" dirty="0">
                <a:solidFill>
                  <a:srgbClr val="1B1F3B"/>
                </a:solidFill>
                <a:latin typeface="Calibri" pitchFamily="34" charset="0"/>
                <a:ea typeface="Calibri" pitchFamily="34" charset="-122"/>
                <a:cs typeface="Calibri" pitchFamily="34" charset="-120"/>
              </a:rPr>
              <a:t>Each state is a complete configuration, not a partial path</a:t>
            </a:r>
            <a:endParaRPr lang="en-US" sz="1550" dirty="0"/>
          </a:p>
          <a:p>
            <a:pPr marL="342900" indent="-342900">
              <a:spcAft>
                <a:spcPts val="1100"/>
              </a:spcAft>
              <a:buSzPct val="100000"/>
              <a:buChar char="•"/>
            </a:pPr>
            <a:r>
              <a:rPr lang="en-US" sz="1550" dirty="0">
                <a:solidFill>
                  <a:srgbClr val="1B1F3B"/>
                </a:solidFill>
                <a:latin typeface="Calibri" pitchFamily="34" charset="0"/>
                <a:ea typeface="Calibri" pitchFamily="34" charset="-122"/>
                <a:cs typeface="Calibri" pitchFamily="34" charset="-120"/>
              </a:rPr>
              <a:t>An evaluation function J(x) assigns a quality to each state</a:t>
            </a:r>
            <a:endParaRPr lang="en-US" sz="1550" dirty="0"/>
          </a:p>
          <a:p>
            <a:pPr marL="342900" indent="-342900">
              <a:spcAft>
                <a:spcPts val="1100"/>
              </a:spcAft>
              <a:buSzPct val="100000"/>
              <a:buChar char="•"/>
            </a:pPr>
            <a:r>
              <a:rPr lang="en-US" sz="1550" b="1" dirty="0">
                <a:solidFill>
                  <a:srgbClr val="1B1F3B"/>
                </a:solidFill>
                <a:latin typeface="Calibri" pitchFamily="34" charset="0"/>
                <a:ea typeface="Calibri" pitchFamily="34" charset="-122"/>
                <a:cs typeface="Calibri" pitchFamily="34" charset="-120"/>
              </a:rPr>
              <a:t>Picture the state space as a landscape: states → locations, J(x) → elevation</a:t>
            </a:r>
            <a:endParaRPr lang="en-US" sz="1550" dirty="0"/>
          </a:p>
          <a:p>
            <a:pPr marL="342900" indent="-342900">
              <a:spcAft>
                <a:spcPts val="1100"/>
              </a:spcAft>
              <a:buSzPct val="100000"/>
              <a:buChar char="•"/>
            </a:pPr>
            <a:r>
              <a:rPr lang="en-US" sz="1550" dirty="0">
                <a:solidFill>
                  <a:srgbClr val="1B1F3B"/>
                </a:solidFill>
                <a:latin typeface="Calibri" pitchFamily="34" charset="0"/>
                <a:ea typeface="Calibri" pitchFamily="34" charset="-122"/>
                <a:cs typeface="Calibri" pitchFamily="34" charset="-120"/>
              </a:rPr>
              <a:t>Local moves define which states are neighbors — there is no global view of the landscape, only what's nearby</a:t>
            </a:r>
            <a:endParaRPr lang="en-US" sz="1550" dirty="0"/>
          </a:p>
          <a:p>
            <a:pPr marL="342900" indent="-342900">
              <a:spcAft>
                <a:spcPts val="1100"/>
              </a:spcAft>
              <a:buSzPct val="100000"/>
              <a:buChar char="•"/>
            </a:pPr>
            <a:r>
              <a:rPr lang="en-US" sz="1550" b="1" dirty="0">
                <a:solidFill>
                  <a:srgbClr val="1B1F3B"/>
                </a:solidFill>
                <a:latin typeface="Calibri" pitchFamily="34" charset="0"/>
                <a:ea typeface="Calibri" pitchFamily="34" charset="-122"/>
                <a:cs typeface="Calibri" pitchFamily="34" charset="-120"/>
              </a:rPr>
              <a:t>Search becomes movement: the algorithm moves from state to state based purely on local comparison</a:t>
            </a:r>
            <a:endParaRPr lang="en-US" sz="1550" dirty="0"/>
          </a:p>
        </p:txBody>
      </p:sp>
      <p:pic>
        <p:nvPicPr>
          <p:cNvPr id="6" name="Image 0" descr="/home/claude/assets2/landscape.png"/>
          <p:cNvPicPr>
            <a:picLocks noChangeAspect="1"/>
          </p:cNvPicPr>
          <p:nvPr/>
        </p:nvPicPr>
        <p:blipFill>
          <a:blip r:embed="rId3"/>
          <a:srcRect/>
          <a:stretch/>
        </p:blipFill>
        <p:spPr>
          <a:xfrm>
            <a:off x="6492240" y="1828800"/>
            <a:ext cx="5120640" cy="3108960"/>
          </a:xfrm>
          <a:prstGeom prst="rect">
            <a:avLst/>
          </a:prstGeom>
        </p:spPr>
      </p:pic>
      <p:sp>
        <p:nvSpPr>
          <p:cNvPr id="7"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8"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Hill Climbing</a:t>
            </a:r>
            <a:endParaRPr lang="en-US" sz="2700" dirty="0"/>
          </a:p>
        </p:txBody>
      </p:sp>
      <p:sp>
        <p:nvSpPr>
          <p:cNvPr id="5" name="Text 3"/>
          <p:cNvSpPr/>
          <p:nvPr/>
        </p:nvSpPr>
        <p:spPr>
          <a:xfrm>
            <a:off x="548640" y="1600200"/>
            <a:ext cx="4937760" cy="4663440"/>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Start from an initial state</a:t>
            </a:r>
            <a:endParaRPr lang="en-US" sz="1500" dirty="0"/>
          </a:p>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Evaluate neighboring states using J(x)</a:t>
            </a:r>
            <a:endParaRPr lang="en-US" sz="1500" dirty="0"/>
          </a:p>
          <a:p>
            <a:pPr marL="342900" indent="-342900">
              <a:spcAft>
                <a:spcPts val="1100"/>
              </a:spcAft>
              <a:buSzPct val="100000"/>
              <a:buChar char="•"/>
            </a:pPr>
            <a:r>
              <a:rPr lang="en-US" sz="1500" b="1" dirty="0">
                <a:solidFill>
                  <a:srgbClr val="1B1F3B"/>
                </a:solidFill>
                <a:latin typeface="Calibri" pitchFamily="34" charset="0"/>
                <a:ea typeface="Calibri" pitchFamily="34" charset="-122"/>
                <a:cs typeface="Calibri" pitchFamily="34" charset="-120"/>
              </a:rPr>
              <a:t>Move to a neighbor with a higher value; repeat until no neighbor improves</a:t>
            </a:r>
            <a:endParaRPr lang="en-US" sz="1500" dirty="0"/>
          </a:p>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Uses only local neighborhood information — no search tree, no backtracking, a single current state</a:t>
            </a:r>
            <a:endParaRPr lang="en-US" sz="1500" dirty="0"/>
          </a:p>
          <a:p>
            <a:pPr marL="342900" indent="-342900">
              <a:spcAft>
                <a:spcPts val="1100"/>
              </a:spcAft>
              <a:buSzPct val="100000"/>
              <a:buChar char="•"/>
            </a:pPr>
            <a:r>
              <a:rPr lang="en-US" sz="1500" b="1" dirty="0">
                <a:solidFill>
                  <a:srgbClr val="1B1F3B"/>
                </a:solidFill>
                <a:latin typeface="Calibri" pitchFamily="34" charset="0"/>
                <a:ea typeface="Calibri" pitchFamily="34" charset="-122"/>
                <a:cs typeface="Calibri" pitchFamily="34" charset="-120"/>
              </a:rPr>
              <a:t>Terminates at a local optimum — not necessarily the global one</a:t>
            </a:r>
            <a:endParaRPr lang="en-US" sz="1500" dirty="0"/>
          </a:p>
        </p:txBody>
      </p:sp>
      <p:sp>
        <p:nvSpPr>
          <p:cNvPr id="6" name="Shape 4"/>
          <p:cNvSpPr/>
          <p:nvPr/>
        </p:nvSpPr>
        <p:spPr>
          <a:xfrm>
            <a:off x="5715000" y="1691640"/>
            <a:ext cx="5943600" cy="4297680"/>
          </a:xfrm>
          <a:prstGeom prst="roundRect">
            <a:avLst>
              <a:gd name="adj" fmla="val 1702"/>
            </a:avLst>
          </a:prstGeom>
          <a:solidFill>
            <a:srgbClr val="F4F6FB"/>
          </a:solidFill>
          <a:ln w="12700">
            <a:solidFill>
              <a:srgbClr val="CADCFC"/>
            </a:solidFill>
            <a:prstDash val="solid"/>
          </a:ln>
        </p:spPr>
        <p:txBody>
          <a:bodyPr/>
          <a:lstStyle/>
          <a:p>
            <a:endParaRPr lang="en-US"/>
          </a:p>
        </p:txBody>
      </p:sp>
      <p:sp>
        <p:nvSpPr>
          <p:cNvPr id="7" name="Text 5"/>
          <p:cNvSpPr/>
          <p:nvPr/>
        </p:nvSpPr>
        <p:spPr>
          <a:xfrm>
            <a:off x="5943600" y="1874520"/>
            <a:ext cx="5486400" cy="3931920"/>
          </a:xfrm>
          <a:prstGeom prst="rect">
            <a:avLst/>
          </a:prstGeom>
          <a:noFill/>
          <a:ln/>
        </p:spPr>
        <p:txBody>
          <a:bodyPr wrap="square" lIns="0" tIns="0" rIns="0" bIns="0" rtlCol="0" anchor="t"/>
          <a:lstStyle/>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function HILL_CLIMBING(state):</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loop:</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neighbor = highest-valued</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successor of state</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if neighbor.value &lt;=</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state.value:</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return state</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state = neighbor</a:t>
            </a:r>
            <a:endParaRPr lang="en-US" sz="1250" dirty="0"/>
          </a:p>
          <a:p>
            <a:pPr marL="0" indent="0">
              <a:spcAft>
                <a:spcPts val="300"/>
              </a:spcAft>
              <a:buNone/>
            </a:pP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'greedy local search' —</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always moves uphill,</a:t>
            </a:r>
            <a:endParaRPr lang="en-US" sz="1250" dirty="0"/>
          </a:p>
          <a:p>
            <a:pPr marL="0" indent="0">
              <a:spcAft>
                <a:spcPts val="300"/>
              </a:spcAft>
              <a:buNone/>
            </a:pPr>
            <a:r>
              <a:rPr lang="en-US" sz="1250" dirty="0">
                <a:solidFill>
                  <a:srgbClr val="1E2761"/>
                </a:solidFill>
                <a:latin typeface="Consolas" pitchFamily="34" charset="0"/>
                <a:ea typeface="Consolas" pitchFamily="34" charset="-122"/>
                <a:cs typeface="Consolas" pitchFamily="34" charset="-120"/>
              </a:rPr>
              <a:t># never accepts a worse move</a:t>
            </a:r>
            <a:endParaRPr lang="en-US" sz="1250" dirty="0"/>
          </a:p>
        </p:txBody>
      </p:sp>
      <p:sp>
        <p:nvSpPr>
          <p:cNvPr id="8" name="Text 6"/>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Dealing with Local Optima</a:t>
            </a:r>
            <a:endParaRPr lang="en-US" sz="2800" dirty="0"/>
          </a:p>
        </p:txBody>
      </p:sp>
      <p:sp>
        <p:nvSpPr>
          <p:cNvPr id="5" name="Text 3"/>
          <p:cNvSpPr/>
          <p:nvPr/>
        </p:nvSpPr>
        <p:spPr>
          <a:xfrm>
            <a:off x="640080" y="1608826"/>
            <a:ext cx="10881360" cy="4754880"/>
          </a:xfrm>
          <a:prstGeom prst="rect">
            <a:avLst/>
          </a:prstGeom>
          <a:noFill/>
          <a:ln/>
        </p:spPr>
        <p:txBody>
          <a:bodyPr wrap="square" lIns="0" tIns="0" rIns="0" bIns="0" rtlCol="0" anchor="t"/>
          <a:lstStyle/>
          <a:p>
            <a:pPr marL="342900" indent="-342900">
              <a:spcAft>
                <a:spcPts val="1200"/>
              </a:spcAft>
              <a:buSzPct val="100000"/>
              <a:buChar char="•"/>
            </a:pPr>
            <a:r>
              <a:rPr lang="en-US" sz="1650" b="1" dirty="0">
                <a:solidFill>
                  <a:srgbClr val="1B1F3B"/>
                </a:solidFill>
                <a:latin typeface="Calibri" pitchFamily="34" charset="0"/>
                <a:ea typeface="Calibri" pitchFamily="34" charset="-122"/>
                <a:cs typeface="Calibri" pitchFamily="34" charset="-120"/>
              </a:rPr>
              <a:t>Random-restart hill climbing — if stuck, restart from a new random state; repeat until solved</a:t>
            </a:r>
            <a:endParaRPr lang="en-US" sz="1650" dirty="0"/>
          </a:p>
          <a:p>
            <a:pPr marL="342900" indent="-342900">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Guaranteed to eventually succeed on a finite state space, given enough restarts</a:t>
            </a:r>
            <a:endParaRPr lang="en-US" sz="1650" dirty="0"/>
          </a:p>
          <a:p>
            <a:pPr marL="342900" indent="-342900">
              <a:spcAft>
                <a:spcPts val="1200"/>
              </a:spcAft>
              <a:buSzPct val="100000"/>
              <a:buChar char="•"/>
            </a:pPr>
            <a:r>
              <a:rPr lang="en-US" sz="1650" b="1" dirty="0">
                <a:solidFill>
                  <a:srgbClr val="1B1F3B"/>
                </a:solidFill>
                <a:latin typeface="Calibri" pitchFamily="34" charset="0"/>
                <a:ea typeface="Calibri" pitchFamily="34" charset="-122"/>
                <a:cs typeface="Calibri" pitchFamily="34" charset="-120"/>
              </a:rPr>
              <a:t>Sideways moves — allow a bounded number of moves to equally-good neighbors, to cross plateaus</a:t>
            </a:r>
            <a:endParaRPr lang="en-US" sz="1650" dirty="0"/>
          </a:p>
          <a:p>
            <a:pPr marL="342900" indent="-342900">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Both are still fundamentally hill climbing — the next two methods change the acceptance rule itself</a:t>
            </a:r>
            <a:endParaRPr lang="en-US" sz="165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Simulated Annealing</a:t>
            </a:r>
            <a:endParaRPr lang="en-US" sz="2600" dirty="0"/>
          </a:p>
        </p:txBody>
      </p:sp>
      <p:sp>
        <p:nvSpPr>
          <p:cNvPr id="5" name="Text 3"/>
          <p:cNvSpPr/>
          <p:nvPr/>
        </p:nvSpPr>
        <p:spPr>
          <a:xfrm>
            <a:off x="548640" y="1600200"/>
            <a:ext cx="6217920" cy="4754880"/>
          </a:xfrm>
          <a:prstGeom prst="rect">
            <a:avLst/>
          </a:prstGeom>
          <a:noFill/>
          <a:ln/>
        </p:spPr>
        <p:txBody>
          <a:bodyPr wrap="square" lIns="0" tIns="0" rIns="0" bIns="0" rtlCol="0" anchor="t"/>
          <a:lstStyle/>
          <a:p>
            <a:pPr marL="342900" indent="-342900">
              <a:spcAft>
                <a:spcPts val="1100"/>
              </a:spcAft>
              <a:buSzPct val="100000"/>
              <a:buChar char="•"/>
            </a:pPr>
            <a:r>
              <a:rPr lang="en-US" sz="1450" dirty="0">
                <a:solidFill>
                  <a:srgbClr val="1B1F3B"/>
                </a:solidFill>
                <a:latin typeface="Calibri" pitchFamily="34" charset="0"/>
                <a:ea typeface="Calibri" pitchFamily="34" charset="-122"/>
                <a:cs typeface="Calibri" pitchFamily="34" charset="-120"/>
              </a:rPr>
              <a:t>Physical intuition: annealing metal — heat it, then cool slowly so atoms settle into a low-energy structure</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High temperature → exploration: allow moves that make things worse</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Low temperature → exploitation: settle into good local structure</a:t>
            </a:r>
            <a:endParaRPr lang="en-US" sz="1450" dirty="0"/>
          </a:p>
          <a:p>
            <a:pPr marL="342900" indent="-342900">
              <a:spcAft>
                <a:spcPts val="1100"/>
              </a:spcAft>
              <a:buSzPct val="100000"/>
              <a:buChar char="•"/>
            </a:pPr>
            <a:r>
              <a:rPr lang="en-US" sz="1450" dirty="0">
                <a:solidFill>
                  <a:srgbClr val="1B1F3B"/>
                </a:solidFill>
                <a:latin typeface="Calibri" pitchFamily="34" charset="0"/>
                <a:ea typeface="Calibri" pitchFamily="34" charset="-122"/>
                <a:cs typeface="Calibri" pitchFamily="34" charset="-120"/>
              </a:rPr>
              <a:t>A worsening move is accepted with probability that shrinks as temperature cools — exactly like the physical process</a:t>
            </a:r>
            <a:endParaRPr lang="en-US" sz="1450" dirty="0"/>
          </a:p>
          <a:p>
            <a:pPr marL="342900" indent="-342900">
              <a:spcAft>
                <a:spcPts val="1100"/>
              </a:spcAft>
              <a:buSzPct val="100000"/>
              <a:buChar char="•"/>
            </a:pPr>
            <a:r>
              <a:rPr lang="en-US" sz="1450" b="1" dirty="0">
                <a:solidFill>
                  <a:srgbClr val="1B1F3B"/>
                </a:solidFill>
                <a:latin typeface="Calibri" pitchFamily="34" charset="0"/>
                <a:ea typeface="Calibri" pitchFamily="34" charset="-122"/>
                <a:cs typeface="Calibri" pitchFamily="34" charset="-120"/>
              </a:rPr>
              <a:t>With a slow enough cooling schedule, simulated annealing converges to the global optimum with probability approaching 1</a:t>
            </a:r>
            <a:endParaRPr lang="en-US" sz="1450" dirty="0"/>
          </a:p>
        </p:txBody>
      </p:sp>
      <p:pic>
        <p:nvPicPr>
          <p:cNvPr id="6" name="Image 0" descr="/home/claude/assets2/sa_physical.png"/>
          <p:cNvPicPr>
            <a:picLocks noChangeAspect="1"/>
          </p:cNvPicPr>
          <p:nvPr/>
        </p:nvPicPr>
        <p:blipFill>
          <a:blip r:embed="rId3"/>
          <a:srcRect/>
          <a:stretch/>
        </p:blipFill>
        <p:spPr>
          <a:xfrm>
            <a:off x="7223760" y="1920240"/>
            <a:ext cx="4297680" cy="3291840"/>
          </a:xfrm>
          <a:prstGeom prst="rect">
            <a:avLst/>
          </a:prstGeom>
        </p:spPr>
      </p:pic>
      <p:sp>
        <p:nvSpPr>
          <p:cNvPr id="7"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8"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Simulated Annealing</a:t>
            </a:r>
            <a:endParaRPr lang="en-US" sz="280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21</a:t>
            </a:r>
            <a:endParaRPr lang="en-US" sz="1000" dirty="0"/>
          </a:p>
        </p:txBody>
      </p:sp>
      <p:sp>
        <p:nvSpPr>
          <p:cNvPr id="9" name="TextBox 8">
            <a:extLst>
              <a:ext uri="{FF2B5EF4-FFF2-40B4-BE49-F238E27FC236}">
                <a16:creationId xmlns:a16="http://schemas.microsoft.com/office/drawing/2014/main" id="{383DBFA5-3400-C757-08B3-52A2A59CF894}"/>
              </a:ext>
            </a:extLst>
          </p:cNvPr>
          <p:cNvSpPr txBox="1"/>
          <p:nvPr/>
        </p:nvSpPr>
        <p:spPr>
          <a:xfrm>
            <a:off x="701088" y="1324792"/>
            <a:ext cx="11170236" cy="4524315"/>
          </a:xfrm>
          <a:prstGeom prst="rect">
            <a:avLst/>
          </a:prstGeom>
          <a:noFill/>
        </p:spPr>
        <p:txBody>
          <a:bodyPr wrap="square">
            <a:spAutoFit/>
          </a:bodyPr>
          <a:lstStyle/>
          <a:p>
            <a:r>
              <a:rPr lang="en-US" b="1" dirty="0"/>
              <a:t>Core idea</a:t>
            </a:r>
            <a:r>
              <a:rPr lang="en-US" dirty="0"/>
              <a:t>: relax hill climbing by allowing </a:t>
            </a:r>
            <a:r>
              <a:rPr lang="en-US" i="1" dirty="0"/>
              <a:t>controlled</a:t>
            </a:r>
            <a:r>
              <a:rPr lang="en-US" dirty="0"/>
              <a:t> non-improving moves (randomness is deliberate, not arbitrary)</a:t>
            </a:r>
          </a:p>
          <a:p>
            <a:pPr>
              <a:buFont typeface="Arial" panose="020B0604020202020204" pitchFamily="34" charset="0"/>
              <a:buChar char="•"/>
            </a:pPr>
            <a:endParaRPr lang="en-US" dirty="0"/>
          </a:p>
          <a:p>
            <a:r>
              <a:rPr lang="en-US" b="1" dirty="0"/>
              <a:t>Temperature controls behavior</a:t>
            </a:r>
            <a:endParaRPr lang="en-US" dirty="0"/>
          </a:p>
          <a:p>
            <a:pPr marL="742950" lvl="1" indent="-285750">
              <a:buFont typeface="Arial" panose="020B0604020202020204" pitchFamily="34" charset="0"/>
              <a:buChar char="•"/>
            </a:pPr>
            <a:r>
              <a:rPr lang="en-US" dirty="0"/>
              <a:t>High temperature: worse moves are often accepted</a:t>
            </a:r>
            <a:br>
              <a:rPr lang="en-US" dirty="0"/>
            </a:br>
            <a:r>
              <a:rPr lang="en-US" dirty="0"/>
              <a:t>→ enables escape from local optima</a:t>
            </a:r>
          </a:p>
          <a:p>
            <a:pPr marL="742950" lvl="1" indent="-285750">
              <a:buFont typeface="Arial" panose="020B0604020202020204" pitchFamily="34" charset="0"/>
              <a:buChar char="•"/>
            </a:pPr>
            <a:r>
              <a:rPr lang="en-US" dirty="0"/>
              <a:t>Low temperature: worse moves are rarely accepted</a:t>
            </a:r>
            <a:br>
              <a:rPr lang="en-US" dirty="0"/>
            </a:br>
            <a:r>
              <a:rPr lang="en-US" dirty="0"/>
              <a:t>→ behavior approaches hill climbing</a:t>
            </a:r>
          </a:p>
          <a:p>
            <a:pPr marL="742950" lvl="1" indent="-285750">
              <a:buFont typeface="Arial" panose="020B0604020202020204" pitchFamily="34" charset="0"/>
              <a:buChar char="•"/>
            </a:pPr>
            <a:endParaRPr lang="en-US" dirty="0"/>
          </a:p>
          <a:p>
            <a:r>
              <a:rPr lang="en-US" b="1" dirty="0"/>
              <a:t>Cooling schedule</a:t>
            </a:r>
            <a:endParaRPr lang="en-US" dirty="0"/>
          </a:p>
          <a:p>
            <a:pPr marL="742950" lvl="1" indent="-285750">
              <a:buFont typeface="Arial" panose="020B0604020202020204" pitchFamily="34" charset="0"/>
              <a:buChar char="•"/>
            </a:pPr>
            <a:r>
              <a:rPr lang="en-US" dirty="0"/>
              <a:t>Gradually reduces randomness over time</a:t>
            </a:r>
          </a:p>
          <a:p>
            <a:pPr marL="742950" lvl="1" indent="-285750">
              <a:buFont typeface="Arial" panose="020B0604020202020204" pitchFamily="34" charset="0"/>
              <a:buChar char="•"/>
            </a:pPr>
            <a:r>
              <a:rPr lang="en-US" dirty="0"/>
              <a:t>Governs the transition from exploration to exploitation</a:t>
            </a:r>
          </a:p>
          <a:p>
            <a:pPr marL="742950" lvl="1" indent="-285750">
              <a:buFont typeface="Arial" panose="020B0604020202020204" pitchFamily="34" charset="0"/>
              <a:buChar char="•"/>
            </a:pPr>
            <a:endParaRPr lang="en-US" dirty="0"/>
          </a:p>
          <a:p>
            <a:r>
              <a:rPr lang="en-US" b="1" dirty="0"/>
              <a:t>Landscape intuition</a:t>
            </a:r>
            <a:endParaRPr lang="en-US" dirty="0"/>
          </a:p>
          <a:p>
            <a:pPr marL="742950" lvl="1" indent="-285750">
              <a:buFont typeface="Arial" panose="020B0604020202020204" pitchFamily="34" charset="0"/>
              <a:buChar char="•"/>
            </a:pPr>
            <a:r>
              <a:rPr lang="en-US" dirty="0"/>
              <a:t>Like gently shaking a ball on a rugged surface</a:t>
            </a:r>
          </a:p>
          <a:p>
            <a:pPr marL="742950" lvl="1" indent="-285750">
              <a:buFont typeface="Arial" panose="020B0604020202020204" pitchFamily="34" charset="0"/>
              <a:buChar char="•"/>
            </a:pPr>
            <a:r>
              <a:rPr lang="en-US" dirty="0"/>
              <a:t>Strong shaking helps escape shallow traps, while weak shaking allows settling into a deep basin</a:t>
            </a:r>
          </a:p>
          <a:p>
            <a:pPr lvl="1"/>
            <a:endParaRPr lang="en-US" dirty="0"/>
          </a:p>
        </p:txBody>
      </p:sp>
      <p:pic>
        <p:nvPicPr>
          <p:cNvPr id="11" name="Picture 2" descr="Simulated Annealing in NetLogo">
            <a:extLst>
              <a:ext uri="{FF2B5EF4-FFF2-40B4-BE49-F238E27FC236}">
                <a16:creationId xmlns:a16="http://schemas.microsoft.com/office/drawing/2014/main" id="{F9EA42A3-0AEB-8217-3AE3-F5259BC654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2880" y="1960879"/>
            <a:ext cx="3397885" cy="2710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Local Beam Search</a:t>
            </a:r>
            <a:endParaRPr lang="en-US" sz="2800" dirty="0"/>
          </a:p>
        </p:txBody>
      </p:sp>
      <p:sp>
        <p:nvSpPr>
          <p:cNvPr id="5" name="Text 3"/>
          <p:cNvSpPr/>
          <p:nvPr/>
        </p:nvSpPr>
        <p:spPr>
          <a:xfrm>
            <a:off x="640080" y="1600200"/>
            <a:ext cx="10881360" cy="4754880"/>
          </a:xfrm>
          <a:prstGeom prst="rect">
            <a:avLst/>
          </a:prstGeom>
          <a:noFill/>
          <a:ln/>
        </p:spPr>
        <p:txBody>
          <a:bodyPr wrap="square" lIns="0" tIns="0" rIns="0" bIns="0" rtlCol="0" anchor="t"/>
          <a:lstStyle/>
          <a:p>
            <a:pPr marL="342900" indent="-342900">
              <a:spcAft>
                <a:spcPts val="1200"/>
              </a:spcAft>
              <a:buSzPct val="100000"/>
              <a:buChar char="•"/>
            </a:pPr>
            <a:r>
              <a:rPr lang="en-US" sz="1700" b="1" dirty="0">
                <a:solidFill>
                  <a:srgbClr val="1B1F3B"/>
                </a:solidFill>
                <a:latin typeface="Calibri" pitchFamily="34" charset="0"/>
                <a:ea typeface="Calibri" pitchFamily="34" charset="-122"/>
                <a:cs typeface="Calibri" pitchFamily="34" charset="-120"/>
              </a:rPr>
              <a:t>Keep k states instead of just one, generate all their successors, keep the best k overall</a:t>
            </a:r>
            <a:endParaRPr lang="en-US" sz="1700" dirty="0"/>
          </a:p>
          <a:p>
            <a:pPr marL="342900" indent="-342900">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Not the same as k independent random restarts — the k states share information: a good state can 'recruit' the whole search toward its neighborhood</a:t>
            </a:r>
            <a:endParaRPr lang="en-US" sz="1700" dirty="0"/>
          </a:p>
          <a:p>
            <a:pPr marL="342900" indent="-342900">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Can suffer from lack of diversity — all k states clustering in the same region of the landscape</a:t>
            </a:r>
            <a:endParaRPr lang="en-US" sz="1700" dirty="0"/>
          </a:p>
          <a:p>
            <a:pPr marL="342900" indent="-342900">
              <a:spcAft>
                <a:spcPts val="1200"/>
              </a:spcAft>
              <a:buSzPct val="100000"/>
              <a:buChar char="•"/>
            </a:pPr>
            <a:r>
              <a:rPr lang="en-US" sz="1700" b="1" dirty="0">
                <a:solidFill>
                  <a:srgbClr val="1B1F3B"/>
                </a:solidFill>
                <a:latin typeface="Calibri" pitchFamily="34" charset="0"/>
                <a:ea typeface="Calibri" pitchFamily="34" charset="-122"/>
                <a:cs typeface="Calibri" pitchFamily="34" charset="-120"/>
              </a:rPr>
              <a:t>A natural stepping stone toward maintaining a whole population — which is exactly what a genetic algorithm does next</a:t>
            </a:r>
            <a:endParaRPr lang="en-US" sz="170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Genetic Algorithms</a:t>
            </a:r>
            <a:endParaRPr lang="en-US" sz="2600" dirty="0"/>
          </a:p>
        </p:txBody>
      </p:sp>
      <p:sp>
        <p:nvSpPr>
          <p:cNvPr id="5" name="Text 3"/>
          <p:cNvSpPr/>
          <p:nvPr/>
        </p:nvSpPr>
        <p:spPr>
          <a:xfrm>
            <a:off x="548640" y="1600200"/>
            <a:ext cx="6035040" cy="4754880"/>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A population-based search method inspired by biological evolution</a:t>
            </a:r>
            <a:endParaRPr lang="en-US" sz="1500" dirty="0"/>
          </a:p>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Each state is encoded as a chromosome (often a bit string)</a:t>
            </a:r>
            <a:endParaRPr lang="en-US" sz="1500" dirty="0"/>
          </a:p>
          <a:p>
            <a:pPr marL="342900" indent="-342900">
              <a:spcAft>
                <a:spcPts val="1100"/>
              </a:spcAft>
              <a:buSzPct val="100000"/>
              <a:buChar char="•"/>
            </a:pPr>
            <a:r>
              <a:rPr lang="en-US" sz="1500" b="1" dirty="0">
                <a:solidFill>
                  <a:srgbClr val="1B1F3B"/>
                </a:solidFill>
                <a:latin typeface="Calibri" pitchFamily="34" charset="0"/>
                <a:ea typeface="Calibri" pitchFamily="34" charset="-122"/>
                <a:cs typeface="Calibri" pitchFamily="34" charset="-120"/>
              </a:rPr>
              <a:t>Selection — fitter individuals are more likely to reproduce</a:t>
            </a:r>
            <a:endParaRPr lang="en-US" sz="1500" dirty="0"/>
          </a:p>
          <a:p>
            <a:pPr marL="342900" indent="-342900">
              <a:spcAft>
                <a:spcPts val="1100"/>
              </a:spcAft>
              <a:buSzPct val="100000"/>
              <a:buChar char="•"/>
            </a:pPr>
            <a:r>
              <a:rPr lang="en-US" sz="1500" b="1" dirty="0">
                <a:solidFill>
                  <a:srgbClr val="1B1F3B"/>
                </a:solidFill>
                <a:latin typeface="Calibri" pitchFamily="34" charset="0"/>
                <a:ea typeface="Calibri" pitchFamily="34" charset="-122"/>
                <a:cs typeface="Calibri" pitchFamily="34" charset="-120"/>
              </a:rPr>
              <a:t>Crossover — parents exchange parts of their chromosomes</a:t>
            </a:r>
            <a:endParaRPr lang="en-US" sz="1500" dirty="0"/>
          </a:p>
          <a:p>
            <a:pPr marL="342900" indent="-342900">
              <a:spcAft>
                <a:spcPts val="1100"/>
              </a:spcAft>
              <a:buSzPct val="100000"/>
              <a:buChar char="•"/>
            </a:pPr>
            <a:r>
              <a:rPr lang="en-US" sz="1500" b="1" dirty="0">
                <a:solidFill>
                  <a:srgbClr val="1B1F3B"/>
                </a:solidFill>
                <a:latin typeface="Calibri" pitchFamily="34" charset="0"/>
                <a:ea typeface="Calibri" pitchFamily="34" charset="-122"/>
                <a:cs typeface="Calibri" pitchFamily="34" charset="-120"/>
              </a:rPr>
              <a:t>Mutation — small random changes maintain diversity</a:t>
            </a:r>
            <a:endParaRPr lang="en-US" sz="1500" dirty="0"/>
          </a:p>
          <a:p>
            <a:pPr marL="342900" indent="-342900">
              <a:spcAft>
                <a:spcPts val="1100"/>
              </a:spcAft>
              <a:buSzPct val="100000"/>
              <a:buChar char="•"/>
            </a:pPr>
            <a:r>
              <a:rPr lang="en-US" sz="1500" dirty="0">
                <a:solidFill>
                  <a:srgbClr val="1B1F3B"/>
                </a:solidFill>
                <a:latin typeface="Calibri" pitchFamily="34" charset="0"/>
                <a:ea typeface="Calibri" pitchFamily="34" charset="-122"/>
                <a:cs typeface="Calibri" pitchFamily="34" charset="-120"/>
              </a:rPr>
              <a:t>The population evolves toward better solutions over generations</a:t>
            </a:r>
            <a:endParaRPr lang="en-US" sz="1500" dirty="0"/>
          </a:p>
        </p:txBody>
      </p:sp>
      <p:pic>
        <p:nvPicPr>
          <p:cNvPr id="6" name="Image 0" descr="/home/claude/assets2/ga_diagram.png"/>
          <p:cNvPicPr>
            <a:picLocks noChangeAspect="1"/>
          </p:cNvPicPr>
          <p:nvPr/>
        </p:nvPicPr>
        <p:blipFill>
          <a:blip r:embed="rId3"/>
          <a:srcRect/>
          <a:stretch/>
        </p:blipFill>
        <p:spPr>
          <a:xfrm>
            <a:off x="7040880" y="1737360"/>
            <a:ext cx="4480560" cy="4206240"/>
          </a:xfrm>
          <a:prstGeom prst="rect">
            <a:avLst/>
          </a:prstGeom>
        </p:spPr>
      </p:pic>
      <p:sp>
        <p:nvSpPr>
          <p:cNvPr id="7"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8"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LOCAL SEARCH</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Genetic Algorithm Example: A Minimal Trace</a:t>
            </a:r>
            <a:endParaRPr lang="en-US" sz="2600" dirty="0"/>
          </a:p>
        </p:txBody>
      </p:sp>
      <p:pic>
        <p:nvPicPr>
          <p:cNvPr id="5" name="Image 0" descr="/home/claude/assets2/ga_binary.png"/>
          <p:cNvPicPr>
            <a:picLocks noChangeAspect="1"/>
          </p:cNvPicPr>
          <p:nvPr/>
        </p:nvPicPr>
        <p:blipFill>
          <a:blip r:embed="rId3"/>
          <a:srcRect/>
          <a:stretch/>
        </p:blipFill>
        <p:spPr>
          <a:xfrm>
            <a:off x="822960" y="1371600"/>
            <a:ext cx="10515600" cy="484632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E2761"/>
          </a:solidFill>
          <a:ln/>
        </p:spPr>
        <p:txBody>
          <a:bodyPr/>
          <a:lstStyle/>
          <a:p>
            <a:endParaRPr lang="en-US"/>
          </a:p>
        </p:txBody>
      </p:sp>
      <p:sp>
        <p:nvSpPr>
          <p:cNvPr id="3" name="Text 1"/>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WRAP-UP</a:t>
            </a:r>
            <a:endParaRPr lang="en-US" sz="1200" dirty="0"/>
          </a:p>
        </p:txBody>
      </p:sp>
      <p:sp>
        <p:nvSpPr>
          <p:cNvPr id="4" name="Text 2"/>
          <p:cNvSpPr/>
          <p:nvPr/>
        </p:nvSpPr>
        <p:spPr>
          <a:xfrm>
            <a:off x="548640" y="4572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Conclusions</a:t>
            </a:r>
            <a:endParaRPr lang="en-US" sz="2800" dirty="0"/>
          </a:p>
        </p:txBody>
      </p:sp>
      <p:sp>
        <p:nvSpPr>
          <p:cNvPr id="5" name="Text 3"/>
          <p:cNvSpPr/>
          <p:nvPr/>
        </p:nvSpPr>
        <p:spPr>
          <a:xfrm>
            <a:off x="640080" y="1600200"/>
            <a:ext cx="10881360" cy="475488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Classical search: systematic exploration of paths, from blind (BFS/DFS/UCS) to informed (Greedy/A*)</a:t>
            </a:r>
            <a:endParaRPr lang="en-US" sz="1650" dirty="0"/>
          </a:p>
          <a:p>
            <a:pPr marL="342900" indent="-342900">
              <a:spcAft>
                <a:spcPts val="1200"/>
              </a:spcAft>
              <a:buSzPct val="100000"/>
              <a:buChar char="•"/>
            </a:pPr>
            <a:r>
              <a:rPr lang="en-US" sz="1650" b="1" dirty="0">
                <a:solidFill>
                  <a:srgbClr val="1B1F3B"/>
                </a:solidFill>
                <a:latin typeface="Calibri" pitchFamily="34" charset="0"/>
                <a:ea typeface="Calibri" pitchFamily="34" charset="-122"/>
                <a:cs typeface="Calibri" pitchFamily="34" charset="-120"/>
              </a:rPr>
              <a:t>A heuristic doesn't just speed things up — admissibility and consistency determine whether the answer is still guaranteed correct</a:t>
            </a:r>
            <a:endParaRPr lang="en-US" sz="1650" dirty="0"/>
          </a:p>
          <a:p>
            <a:pPr marL="342900" indent="-342900">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Local search drops the path entirely: O(1) memory, at the cost of completeness and optimality guarantees</a:t>
            </a:r>
            <a:endParaRPr lang="en-US" sz="1650" dirty="0"/>
          </a:p>
          <a:p>
            <a:pPr marL="342900" indent="-342900">
              <a:spcAft>
                <a:spcPts val="1200"/>
              </a:spcAft>
              <a:buSzPct val="100000"/>
              <a:buChar char="•"/>
            </a:pPr>
            <a:r>
              <a:rPr lang="en-US" sz="1650" b="1" dirty="0">
                <a:solidFill>
                  <a:srgbClr val="1B1F3B"/>
                </a:solidFill>
                <a:latin typeface="Calibri" pitchFamily="34" charset="0"/>
                <a:ea typeface="Calibri" pitchFamily="34" charset="-122"/>
                <a:cs typeface="Calibri" pitchFamily="34" charset="-120"/>
              </a:rPr>
              <a:t>Hill climbing, simulated annealing, and genetic algorithms are three different answers to the same question: how do you move through a landscape you can only see locally?</a:t>
            </a:r>
            <a:endParaRPr lang="en-US" sz="165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139B3-89D7-E9D0-2D1B-5052A6BEAD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1907FAA-C4B2-7163-36B1-53ABDA66E50F}"/>
              </a:ext>
            </a:extLst>
          </p:cNvPr>
          <p:cNvSpPr/>
          <p:nvPr/>
        </p:nvSpPr>
        <p:spPr>
          <a:xfrm>
            <a:off x="0" y="0"/>
            <a:ext cx="12188952" cy="118872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CFBE3254-BEEF-42AE-FEAF-562CBDBA83BA}"/>
              </a:ext>
            </a:extLst>
          </p:cNvPr>
          <p:cNvSpPr/>
          <p:nvPr/>
        </p:nvSpPr>
        <p:spPr>
          <a:xfrm>
            <a:off x="548640" y="201168"/>
            <a:ext cx="9144000" cy="274320"/>
          </a:xfrm>
          <a:prstGeom prst="rect">
            <a:avLst/>
          </a:prstGeom>
          <a:noFill/>
          <a:ln/>
        </p:spPr>
        <p:txBody>
          <a:bodyPr wrap="square" lIns="0" tIns="0" rIns="0" bIns="0" rtlCol="0" anchor="ctr"/>
          <a:lstStyle/>
          <a:p>
            <a:pPr marL="0" indent="0">
              <a:buNone/>
            </a:pPr>
            <a:r>
              <a:rPr lang="en-US" sz="1200" b="1" kern="0" spc="150" dirty="0">
                <a:solidFill>
                  <a:srgbClr val="C9A25D"/>
                </a:solidFill>
                <a:latin typeface="Calibri" pitchFamily="34" charset="0"/>
                <a:ea typeface="Calibri" pitchFamily="34" charset="-122"/>
                <a:cs typeface="Calibri" pitchFamily="34" charset="-120"/>
              </a:rPr>
              <a:t>WRAP-UP</a:t>
            </a:r>
            <a:endParaRPr lang="en-US" sz="1200" dirty="0"/>
          </a:p>
        </p:txBody>
      </p:sp>
      <p:sp>
        <p:nvSpPr>
          <p:cNvPr id="4" name="Text 2">
            <a:extLst>
              <a:ext uri="{FF2B5EF4-FFF2-40B4-BE49-F238E27FC236}">
                <a16:creationId xmlns:a16="http://schemas.microsoft.com/office/drawing/2014/main" id="{9964D700-1335-EF80-4898-CB65E7BDCEB3}"/>
              </a:ext>
            </a:extLst>
          </p:cNvPr>
          <p:cNvSpPr/>
          <p:nvPr/>
        </p:nvSpPr>
        <p:spPr>
          <a:xfrm>
            <a:off x="548640" y="457200"/>
            <a:ext cx="10515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Gymnasium</a:t>
            </a:r>
            <a:endParaRPr lang="en-US" sz="2800" dirty="0"/>
          </a:p>
        </p:txBody>
      </p:sp>
      <p:sp>
        <p:nvSpPr>
          <p:cNvPr id="5" name="Text 3">
            <a:extLst>
              <a:ext uri="{FF2B5EF4-FFF2-40B4-BE49-F238E27FC236}">
                <a16:creationId xmlns:a16="http://schemas.microsoft.com/office/drawing/2014/main" id="{F6182671-002E-393B-6793-2AB4DC4D9536}"/>
              </a:ext>
            </a:extLst>
          </p:cNvPr>
          <p:cNvSpPr/>
          <p:nvPr/>
        </p:nvSpPr>
        <p:spPr>
          <a:xfrm>
            <a:off x="640080" y="5733287"/>
            <a:ext cx="10881360" cy="382841"/>
          </a:xfrm>
          <a:prstGeom prst="rect">
            <a:avLst/>
          </a:prstGeom>
          <a:noFill/>
          <a:ln/>
        </p:spPr>
        <p:txBody>
          <a:bodyPr wrap="square" lIns="0" tIns="0" rIns="0" bIns="0" rtlCol="0" anchor="t"/>
          <a:lstStyle/>
          <a:p>
            <a:pPr>
              <a:spcAft>
                <a:spcPts val="1200"/>
              </a:spcAft>
              <a:buSzPct val="100000"/>
            </a:pPr>
            <a:r>
              <a:rPr lang="en-US" sz="1650" dirty="0">
                <a:hlinkClick r:id="rId3"/>
              </a:rPr>
              <a:t>https://github.com/anton-selitskiy/SB_TAI/blob/main/Week01/search_algorithms_frozenlake.ipynb</a:t>
            </a:r>
            <a:r>
              <a:rPr lang="en-US" sz="1650" dirty="0"/>
              <a:t> </a:t>
            </a:r>
          </a:p>
        </p:txBody>
      </p:sp>
      <p:sp>
        <p:nvSpPr>
          <p:cNvPr id="6" name="Text 4">
            <a:extLst>
              <a:ext uri="{FF2B5EF4-FFF2-40B4-BE49-F238E27FC236}">
                <a16:creationId xmlns:a16="http://schemas.microsoft.com/office/drawing/2014/main" id="{A636BB60-CA49-5BE2-0462-C27C2247F5A5}"/>
              </a:ext>
            </a:extLst>
          </p:cNvPr>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Lecture A — Classical &amp; Local Search</a:t>
            </a:r>
            <a:endParaRPr lang="en-US" sz="1000" dirty="0"/>
          </a:p>
        </p:txBody>
      </p:sp>
      <p:sp>
        <p:nvSpPr>
          <p:cNvPr id="7" name="Text 5">
            <a:extLst>
              <a:ext uri="{FF2B5EF4-FFF2-40B4-BE49-F238E27FC236}">
                <a16:creationId xmlns:a16="http://schemas.microsoft.com/office/drawing/2014/main" id="{891B3322-23E8-70A0-866D-1D3E09AF18C7}"/>
              </a:ext>
            </a:extLst>
          </p:cNvPr>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25</a:t>
            </a:r>
            <a:endParaRPr lang="en-US" sz="1000" dirty="0"/>
          </a:p>
        </p:txBody>
      </p:sp>
      <p:pic>
        <p:nvPicPr>
          <p:cNvPr id="9" name="Picture 8">
            <a:extLst>
              <a:ext uri="{FF2B5EF4-FFF2-40B4-BE49-F238E27FC236}">
                <a16:creationId xmlns:a16="http://schemas.microsoft.com/office/drawing/2014/main" id="{01AFAB8C-BD6F-1DF0-5CAF-45803B304672}"/>
              </a:ext>
            </a:extLst>
          </p:cNvPr>
          <p:cNvPicPr>
            <a:picLocks noChangeAspect="1"/>
          </p:cNvPicPr>
          <p:nvPr/>
        </p:nvPicPr>
        <p:blipFill>
          <a:blip r:embed="rId4"/>
          <a:stretch>
            <a:fillRect/>
          </a:stretch>
        </p:blipFill>
        <p:spPr>
          <a:xfrm>
            <a:off x="2596551" y="1206558"/>
            <a:ext cx="6307780" cy="1779323"/>
          </a:xfrm>
          <a:prstGeom prst="rect">
            <a:avLst/>
          </a:prstGeom>
        </p:spPr>
      </p:pic>
      <p:pic>
        <p:nvPicPr>
          <p:cNvPr id="11" name="Picture 10">
            <a:extLst>
              <a:ext uri="{FF2B5EF4-FFF2-40B4-BE49-F238E27FC236}">
                <a16:creationId xmlns:a16="http://schemas.microsoft.com/office/drawing/2014/main" id="{B4293973-2223-1613-AC11-4072713B2406}"/>
              </a:ext>
            </a:extLst>
          </p:cNvPr>
          <p:cNvPicPr>
            <a:picLocks noChangeAspect="1"/>
          </p:cNvPicPr>
          <p:nvPr/>
        </p:nvPicPr>
        <p:blipFill>
          <a:blip r:embed="rId5"/>
          <a:stretch>
            <a:fillRect/>
          </a:stretch>
        </p:blipFill>
        <p:spPr>
          <a:xfrm>
            <a:off x="4394295" y="3145765"/>
            <a:ext cx="3372929" cy="2248619"/>
          </a:xfrm>
          <a:prstGeom prst="rect">
            <a:avLst/>
          </a:prstGeom>
        </p:spPr>
      </p:pic>
    </p:spTree>
    <p:extLst>
      <p:ext uri="{BB962C8B-B14F-4D97-AF65-F5344CB8AC3E}">
        <p14:creationId xmlns:p14="http://schemas.microsoft.com/office/powerpoint/2010/main" val="3815670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509</TotalTime>
  <Words>3239</Words>
  <Application>Microsoft Office PowerPoint</Application>
  <PresentationFormat>Widescreen</PresentationFormat>
  <Paragraphs>354</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Cambria</vt:lpstr>
      <vt:lpstr>Cambria Math</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Anton Selitskiy</cp:lastModifiedBy>
  <cp:revision>5</cp:revision>
  <dcterms:created xsi:type="dcterms:W3CDTF">2026-08-25T13:46:55Z</dcterms:created>
  <dcterms:modified xsi:type="dcterms:W3CDTF">2026-08-26T02:24:47Z</dcterms:modified>
</cp:coreProperties>
</file>